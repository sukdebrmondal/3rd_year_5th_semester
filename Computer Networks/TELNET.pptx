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18"/>
    <p:sldId id="272" r:id="rId19"/>
    <p:sldId id="273" r:id="rId20"/>
  </p:sldIdLst>
  <p:sldSz cx="9144000" cy="5143500" type="screen16x9"/>
  <p:notesSz cx="6858000" cy="9144000"/>
  <p:embeddedFontLst>
    <p:embeddedFont>
      <p:font typeface="Maven Pro" panose="020B0604020202020204" charset="0"/>
      <p:regular r:id="rId22"/>
      <p:bold r:id="rId23"/>
    </p:embeddedFont>
    <p:embeddedFont>
      <p:font typeface="Nunito"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7dc8c71e6d_0_6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7dc8c71e6d_0_6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7dc8c71e6d_0_6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7dc8c71e6d_0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dc8c71e6d_0_6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dc8c71e6d_0_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7dc8c71e6d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37dc8c71e6d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7dc9f66d50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7dc9f66d50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7dc9f66d5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7dc9f66d5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7dc9f66d50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7dc9f66d5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7dc9f66d50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7dc9f66d5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7dc9f66d5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7dc9f66d5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7dc9f66d50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7dc9f66d50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37dc9f66d50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37dc9f66d50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7dc9f66d50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7dc9f66d50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7dc9f66d50_2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37dc9f66d50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7dc9f66d50_2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7dc9f66d50_2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7dc9f66d50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7dc9f66d50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37dc9f66d50_2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37dc9f66d50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7dc9f66d50_2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37dc9f66d50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1075775" y="991725"/>
            <a:ext cx="4255500" cy="1864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TELNET</a:t>
            </a:r>
            <a:endParaRPr/>
          </a:p>
        </p:txBody>
      </p:sp>
      <p:sp>
        <p:nvSpPr>
          <p:cNvPr id="278" name="Google Shape;278;p13"/>
          <p:cNvSpPr txBox="1">
            <a:spLocks noGrp="1"/>
          </p:cNvSpPr>
          <p:nvPr>
            <p:ph type="subTitle" idx="1"/>
          </p:nvPr>
        </p:nvSpPr>
        <p:spPr>
          <a:xfrm>
            <a:off x="0" y="2571750"/>
            <a:ext cx="5353500" cy="695400"/>
          </a:xfrm>
          <a:prstGeom prst="rect">
            <a:avLst/>
          </a:prstGeom>
        </p:spPr>
        <p:txBody>
          <a:bodyPr spcFirstLastPara="1" wrap="square" lIns="91425" tIns="91425" rIns="91425" bIns="91425" anchor="t" anchorCtr="0">
            <a:noAutofit/>
          </a:bodyPr>
          <a:lstStyle/>
          <a:p>
            <a:pPr marL="2743200" lvl="0" indent="0" algn="l" rtl="0">
              <a:spcBef>
                <a:spcPts val="0"/>
              </a:spcBef>
              <a:spcAft>
                <a:spcPts val="0"/>
              </a:spcAft>
              <a:buNone/>
            </a:pPr>
            <a:r>
              <a:rPr lang="en" sz="1700"/>
              <a:t>Name - Sukdeb Mondal Roll - 340</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2"/>
        <p:cNvGrpSpPr/>
        <p:nvPr/>
      </p:nvGrpSpPr>
      <p:grpSpPr>
        <a:xfrm>
          <a:off x="0" y="0"/>
          <a:ext cx="0" cy="0"/>
          <a:chOff x="0" y="0"/>
          <a:chExt cx="0" cy="0"/>
        </a:xfrm>
      </p:grpSpPr>
      <p:sp>
        <p:nvSpPr>
          <p:cNvPr id="283" name="Google Shape;283;p14"/>
          <p:cNvSpPr txBox="1">
            <a:spLocks noGrp="1"/>
          </p:cNvSpPr>
          <p:nvPr>
            <p:ph type="title"/>
          </p:nvPr>
        </p:nvSpPr>
        <p:spPr>
          <a:xfrm>
            <a:off x="1056750" y="698375"/>
            <a:ext cx="7030500" cy="1101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744">
                <a:solidFill>
                  <a:srgbClr val="273239"/>
                </a:solidFill>
                <a:highlight>
                  <a:srgbClr val="FFFFFF"/>
                </a:highlight>
                <a:latin typeface="Arial"/>
                <a:ea typeface="Arial"/>
                <a:cs typeface="Arial"/>
                <a:sym typeface="Arial"/>
              </a:rPr>
              <a:t>What is TELNET?</a:t>
            </a:r>
            <a:endParaRPr sz="2744">
              <a:solidFill>
                <a:srgbClr val="273239"/>
              </a:solidFill>
              <a:highlight>
                <a:srgbClr val="FFFFFF"/>
              </a:highlight>
              <a:latin typeface="Arial"/>
              <a:ea typeface="Arial"/>
              <a:cs typeface="Arial"/>
              <a:sym typeface="Arial"/>
            </a:endParaRPr>
          </a:p>
          <a:p>
            <a:pPr marL="0" lvl="0" indent="0" algn="l" rtl="0">
              <a:spcBef>
                <a:spcPts val="0"/>
              </a:spcBef>
              <a:spcAft>
                <a:spcPts val="0"/>
              </a:spcAft>
              <a:buNone/>
            </a:pPr>
            <a:endParaRPr/>
          </a:p>
        </p:txBody>
      </p:sp>
      <p:sp>
        <p:nvSpPr>
          <p:cNvPr id="284" name="Google Shape;284;p14"/>
          <p:cNvSpPr txBox="1">
            <a:spLocks noGrp="1"/>
          </p:cNvSpPr>
          <p:nvPr>
            <p:ph type="body" idx="1"/>
          </p:nvPr>
        </p:nvSpPr>
        <p:spPr>
          <a:xfrm>
            <a:off x="1303800" y="1227050"/>
            <a:ext cx="7030500" cy="3025500"/>
          </a:xfrm>
          <a:prstGeom prst="rect">
            <a:avLst/>
          </a:prstGeom>
        </p:spPr>
        <p:txBody>
          <a:bodyPr spcFirstLastPara="1" wrap="square" lIns="91425" tIns="91425" rIns="91425" bIns="91425" anchor="t" anchorCtr="0">
            <a:normAutofit fontScale="92500" lnSpcReduction="10000"/>
          </a:bodyPr>
          <a:lstStyle/>
          <a:p>
            <a:pPr marL="457200" lvl="0" indent="0" algn="l" rtl="0">
              <a:lnSpc>
                <a:spcPct val="100000"/>
              </a:lnSpc>
              <a:spcBef>
                <a:spcPts val="0"/>
              </a:spcBef>
              <a:spcAft>
                <a:spcPts val="0"/>
              </a:spcAft>
              <a:buNone/>
            </a:pPr>
            <a:endParaRPr sz="1872">
              <a:solidFill>
                <a:srgbClr val="000000"/>
              </a:solidFill>
              <a:latin typeface="Arial"/>
              <a:ea typeface="Arial"/>
              <a:cs typeface="Arial"/>
              <a:sym typeface="Arial"/>
            </a:endParaRPr>
          </a:p>
          <a:p>
            <a:pPr marL="457200" lvl="0" indent="-350805" algn="l" rtl="0">
              <a:lnSpc>
                <a:spcPct val="100000"/>
              </a:lnSpc>
              <a:spcBef>
                <a:spcPts val="1200"/>
              </a:spcBef>
              <a:spcAft>
                <a:spcPts val="0"/>
              </a:spcAft>
              <a:buClr>
                <a:srgbClr val="000000"/>
              </a:buClr>
              <a:buSzPct val="100000"/>
              <a:buFont typeface="Arial"/>
              <a:buChar char="●"/>
            </a:pPr>
            <a:r>
              <a:rPr lang="en" sz="2080">
                <a:solidFill>
                  <a:srgbClr val="000000"/>
                </a:solidFill>
                <a:latin typeface="Arial"/>
                <a:ea typeface="Arial"/>
                <a:cs typeface="Arial"/>
                <a:sym typeface="Arial"/>
              </a:rPr>
              <a:t>TELNET stands for Teletype Network.</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It is a client/server protocol used to access remote computers.</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Works on TCP/IP protocol for virtual terminal service.</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Local computer = the one starting the connection.</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Remote computer = the one being accessed.</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Actions on the remote system are shown on the local system.</a:t>
            </a:r>
            <a:endParaRPr sz="2080">
              <a:solidFill>
                <a:srgbClr val="000000"/>
              </a:solidFill>
              <a:latin typeface="Arial"/>
              <a:ea typeface="Arial"/>
              <a:cs typeface="Arial"/>
              <a:sym typeface="Arial"/>
            </a:endParaRPr>
          </a:p>
          <a:p>
            <a:pPr marL="457200" lvl="0" indent="-350805" algn="l" rtl="0">
              <a:lnSpc>
                <a:spcPct val="100000"/>
              </a:lnSpc>
              <a:spcBef>
                <a:spcPts val="0"/>
              </a:spcBef>
              <a:spcAft>
                <a:spcPts val="0"/>
              </a:spcAft>
              <a:buClr>
                <a:srgbClr val="000000"/>
              </a:buClr>
              <a:buSzPct val="100000"/>
              <a:buFont typeface="Arial"/>
              <a:buChar char="●"/>
            </a:pPr>
            <a:r>
              <a:rPr lang="en" sz="2080">
                <a:solidFill>
                  <a:srgbClr val="000000"/>
                </a:solidFill>
                <a:latin typeface="Arial"/>
                <a:ea typeface="Arial"/>
                <a:cs typeface="Arial"/>
                <a:sym typeface="Arial"/>
              </a:rPr>
              <a:t>Based on client/server principle.</a:t>
            </a:r>
            <a:endParaRPr sz="2080">
              <a:solidFill>
                <a:srgbClr val="000000"/>
              </a:solidFill>
              <a:latin typeface="Arial"/>
              <a:ea typeface="Arial"/>
              <a:cs typeface="Arial"/>
              <a:sym typeface="Arial"/>
            </a:endParaRPr>
          </a:p>
          <a:p>
            <a:pPr marL="0" lvl="0" indent="0" algn="l" rtl="0">
              <a:spcBef>
                <a:spcPts val="1200"/>
              </a:spcBef>
              <a:spcAft>
                <a:spcPts val="1200"/>
              </a:spcAft>
              <a:buNone/>
            </a:pPr>
            <a:endParaRPr sz="15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title"/>
          </p:nvPr>
        </p:nvSpPr>
        <p:spPr>
          <a:xfrm>
            <a:off x="1236550" y="649000"/>
            <a:ext cx="7030500" cy="999300"/>
          </a:xfrm>
          <a:prstGeom prst="rect">
            <a:avLst/>
          </a:prstGeom>
        </p:spPr>
        <p:txBody>
          <a:bodyPr spcFirstLastPara="1" wrap="square" lIns="91425" tIns="91425" rIns="91425" bIns="91425" anchor="t" anchorCtr="0">
            <a:normAutofit/>
          </a:bodyPr>
          <a:lstStyle/>
          <a:p>
            <a:pPr lvl="0"/>
            <a:r>
              <a:rPr lang="en-US" sz="2400" dirty="0"/>
              <a:t>Telnet: Origins, Use, and Replacement</a:t>
            </a:r>
            <a:endParaRPr sz="2400" dirty="0"/>
          </a:p>
        </p:txBody>
      </p:sp>
      <p:sp>
        <p:nvSpPr>
          <p:cNvPr id="290" name="Google Shape;290;p15"/>
          <p:cNvSpPr txBox="1">
            <a:spLocks noGrp="1"/>
          </p:cNvSpPr>
          <p:nvPr>
            <p:ph type="body" idx="1"/>
          </p:nvPr>
        </p:nvSpPr>
        <p:spPr>
          <a:xfrm>
            <a:off x="1597975" y="1300950"/>
            <a:ext cx="7030500" cy="25416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1900" dirty="0">
                <a:solidFill>
                  <a:srgbClr val="000000"/>
                </a:solidFill>
                <a:latin typeface="Arial"/>
                <a:ea typeface="Arial"/>
                <a:cs typeface="Arial"/>
                <a:sym typeface="Arial"/>
              </a:rPr>
              <a:t>Developed in the </a:t>
            </a:r>
            <a:r>
              <a:rPr lang="en" sz="1900" b="1" dirty="0">
                <a:solidFill>
                  <a:srgbClr val="000000"/>
                </a:solidFill>
                <a:latin typeface="Arial"/>
                <a:ea typeface="Arial"/>
                <a:cs typeface="Arial"/>
                <a:sym typeface="Arial"/>
              </a:rPr>
              <a:t>late 1960s</a:t>
            </a:r>
            <a:endParaRPr sz="1900" b="1" dirty="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dirty="0">
                <a:solidFill>
                  <a:srgbClr val="000000"/>
                </a:solidFill>
                <a:latin typeface="Arial"/>
                <a:ea typeface="Arial"/>
                <a:cs typeface="Arial"/>
                <a:sym typeface="Arial"/>
              </a:rPr>
              <a:t>Created to give </a:t>
            </a:r>
            <a:r>
              <a:rPr lang="en" sz="1900" b="1" dirty="0">
                <a:solidFill>
                  <a:srgbClr val="000000"/>
                </a:solidFill>
                <a:latin typeface="Arial"/>
                <a:ea typeface="Arial"/>
                <a:cs typeface="Arial"/>
                <a:sym typeface="Arial"/>
              </a:rPr>
              <a:t>remote terminal access</a:t>
            </a:r>
            <a:r>
              <a:rPr lang="en" sz="1900" dirty="0">
                <a:solidFill>
                  <a:srgbClr val="000000"/>
                </a:solidFill>
                <a:latin typeface="Arial"/>
                <a:ea typeface="Arial"/>
                <a:cs typeface="Arial"/>
                <a:sym typeface="Arial"/>
              </a:rPr>
              <a:t> to mainframes/minicomputers</a:t>
            </a:r>
            <a:endParaRPr sz="1900" dirty="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dirty="0">
                <a:solidFill>
                  <a:srgbClr val="000000"/>
                </a:solidFill>
                <a:latin typeface="Arial"/>
                <a:ea typeface="Arial"/>
                <a:cs typeface="Arial"/>
                <a:sym typeface="Arial"/>
              </a:rPr>
              <a:t>Allowed users to connect using </a:t>
            </a:r>
            <a:r>
              <a:rPr lang="en" sz="1900" b="1" dirty="0">
                <a:solidFill>
                  <a:srgbClr val="000000"/>
                </a:solidFill>
                <a:latin typeface="Arial"/>
                <a:ea typeface="Arial"/>
                <a:cs typeface="Arial"/>
                <a:sym typeface="Arial"/>
              </a:rPr>
              <a:t>command-line interface</a:t>
            </a:r>
            <a:endParaRPr sz="1900" b="1" dirty="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dirty="0">
                <a:solidFill>
                  <a:srgbClr val="000000"/>
                </a:solidFill>
                <a:latin typeface="Arial"/>
                <a:ea typeface="Arial"/>
                <a:cs typeface="Arial"/>
                <a:sym typeface="Arial"/>
              </a:rPr>
              <a:t>It was simple and useful but </a:t>
            </a:r>
            <a:r>
              <a:rPr lang="en" sz="1900" b="1" dirty="0">
                <a:solidFill>
                  <a:srgbClr val="000000"/>
                </a:solidFill>
                <a:latin typeface="Arial"/>
                <a:ea typeface="Arial"/>
                <a:cs typeface="Arial"/>
                <a:sym typeface="Arial"/>
              </a:rPr>
              <a:t>not secure.</a:t>
            </a:r>
            <a:endParaRPr sz="1900" b="1" dirty="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dirty="0">
                <a:solidFill>
                  <a:srgbClr val="000000"/>
                </a:solidFill>
                <a:latin typeface="Arial"/>
                <a:ea typeface="Arial"/>
                <a:cs typeface="Arial"/>
                <a:sym typeface="Arial"/>
              </a:rPr>
              <a:t>Now replaced by SSH</a:t>
            </a:r>
            <a:r>
              <a:rPr lang="en" sz="1900" dirty="0">
                <a:solidFill>
                  <a:srgbClr val="000000"/>
                </a:solidFill>
                <a:latin typeface="Arial"/>
                <a:ea typeface="Arial"/>
                <a:cs typeface="Arial"/>
                <a:sym typeface="Arial"/>
              </a:rPr>
              <a:t> for secure remote access</a:t>
            </a:r>
            <a:endParaRPr sz="1900" b="1"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Technical Details of TELNET</a:t>
            </a:r>
            <a:endParaRPr/>
          </a:p>
        </p:txBody>
      </p:sp>
      <p:sp>
        <p:nvSpPr>
          <p:cNvPr id="296" name="Google Shape;296;p16"/>
          <p:cNvSpPr txBox="1">
            <a:spLocks noGrp="1"/>
          </p:cNvSpPr>
          <p:nvPr>
            <p:ph type="body" idx="1"/>
          </p:nvPr>
        </p:nvSpPr>
        <p:spPr>
          <a:xfrm>
            <a:off x="1883700" y="1597875"/>
            <a:ext cx="7030500" cy="25416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1900" b="1">
                <a:solidFill>
                  <a:srgbClr val="000000"/>
                </a:solidFill>
                <a:latin typeface="Arial"/>
                <a:ea typeface="Arial"/>
                <a:cs typeface="Arial"/>
                <a:sym typeface="Arial"/>
              </a:rPr>
              <a:t>OSI Layer</a:t>
            </a:r>
            <a:r>
              <a:rPr lang="en" sz="1900">
                <a:solidFill>
                  <a:srgbClr val="000000"/>
                </a:solidFill>
                <a:latin typeface="Arial"/>
                <a:ea typeface="Arial"/>
                <a:cs typeface="Arial"/>
                <a:sym typeface="Arial"/>
              </a:rPr>
              <a:t>: Application Layer (Layer 7)</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 Protocol</a:t>
            </a:r>
            <a:r>
              <a:rPr lang="en" sz="1900">
                <a:solidFill>
                  <a:srgbClr val="000000"/>
                </a:solidFill>
                <a:latin typeface="Arial"/>
                <a:ea typeface="Arial"/>
                <a:cs typeface="Arial"/>
                <a:sym typeface="Arial"/>
              </a:rPr>
              <a:t>: TCP (Transmission Control Protocol)</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Default Port Number</a:t>
            </a:r>
            <a:r>
              <a:rPr lang="en" sz="1900">
                <a:solidFill>
                  <a:srgbClr val="000000"/>
                </a:solidFill>
                <a:latin typeface="Arial"/>
                <a:ea typeface="Arial"/>
                <a:cs typeface="Arial"/>
                <a:sym typeface="Arial"/>
              </a:rPr>
              <a:t>: 23</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Connection Type</a:t>
            </a:r>
            <a:r>
              <a:rPr lang="en" sz="1900">
                <a:solidFill>
                  <a:srgbClr val="000000"/>
                </a:solidFill>
                <a:latin typeface="Arial"/>
                <a:ea typeface="Arial"/>
                <a:cs typeface="Arial"/>
                <a:sym typeface="Arial"/>
              </a:rPr>
              <a:t>: Client/Server</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Data Transmission</a:t>
            </a:r>
            <a:r>
              <a:rPr lang="en" sz="1900">
                <a:solidFill>
                  <a:srgbClr val="000000"/>
                </a:solidFill>
                <a:latin typeface="Arial"/>
                <a:ea typeface="Arial"/>
                <a:cs typeface="Arial"/>
                <a:sym typeface="Arial"/>
              </a:rPr>
              <a:t>: Plain text (not encrypted)</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Supported Services</a:t>
            </a:r>
            <a:r>
              <a:rPr lang="en" sz="1900">
                <a:solidFill>
                  <a:srgbClr val="000000"/>
                </a:solidFill>
                <a:latin typeface="Arial"/>
                <a:ea typeface="Arial"/>
                <a:cs typeface="Arial"/>
                <a:sym typeface="Arial"/>
              </a:rPr>
              <a:t>: Remote login, command execution</a:t>
            </a:r>
            <a:endParaRPr sz="19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3200">
                <a:solidFill>
                  <a:srgbClr val="273239"/>
                </a:solidFill>
                <a:highlight>
                  <a:srgbClr val="FFFFFF"/>
                </a:highlight>
                <a:latin typeface="Nunito"/>
                <a:ea typeface="Nunito"/>
                <a:cs typeface="Nunito"/>
                <a:sym typeface="Nunito"/>
              </a:rPr>
              <a:t>Logging in TELNET</a:t>
            </a:r>
            <a:endParaRPr sz="32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sp>
        <p:nvSpPr>
          <p:cNvPr id="302" name="Google Shape;302;p17"/>
          <p:cNvSpPr txBox="1">
            <a:spLocks noGrp="1"/>
          </p:cNvSpPr>
          <p:nvPr>
            <p:ph type="body" idx="1"/>
          </p:nvPr>
        </p:nvSpPr>
        <p:spPr>
          <a:xfrm>
            <a:off x="2034975" y="1597875"/>
            <a:ext cx="7030500" cy="2541600"/>
          </a:xfrm>
          <a:prstGeom prst="rect">
            <a:avLst/>
          </a:prstGeom>
        </p:spPr>
        <p:txBody>
          <a:bodyPr spcFirstLastPara="1" wrap="square" lIns="91425" tIns="91425" rIns="91425" bIns="91425" anchor="t" anchorCtr="0">
            <a:normAutofit/>
          </a:bodyPr>
          <a:lstStyle/>
          <a:p>
            <a:pPr marL="457200" lvl="0" indent="-349250" algn="l" rtl="0">
              <a:lnSpc>
                <a:spcPct val="158000"/>
              </a:lnSpc>
              <a:spcBef>
                <a:spcPts val="0"/>
              </a:spcBef>
              <a:spcAft>
                <a:spcPts val="0"/>
              </a:spcAft>
              <a:buClr>
                <a:srgbClr val="273239"/>
              </a:buClr>
              <a:buSzPts val="1900"/>
              <a:buChar char="●"/>
            </a:pPr>
            <a:r>
              <a:rPr lang="en" sz="1900">
                <a:solidFill>
                  <a:srgbClr val="273239"/>
                </a:solidFill>
                <a:highlight>
                  <a:srgbClr val="FFFFFF"/>
                </a:highlight>
              </a:rPr>
              <a:t>Local Login</a:t>
            </a:r>
            <a:endParaRPr sz="1900">
              <a:solidFill>
                <a:srgbClr val="273239"/>
              </a:solidFill>
              <a:highlight>
                <a:srgbClr val="FFFFFF"/>
              </a:highlight>
            </a:endParaRPr>
          </a:p>
          <a:p>
            <a:pPr marL="457200" lvl="0" indent="-349250" algn="l" rtl="0">
              <a:lnSpc>
                <a:spcPct val="158000"/>
              </a:lnSpc>
              <a:spcBef>
                <a:spcPts val="0"/>
              </a:spcBef>
              <a:spcAft>
                <a:spcPts val="0"/>
              </a:spcAft>
              <a:buClr>
                <a:srgbClr val="273239"/>
              </a:buClr>
              <a:buSzPts val="1900"/>
              <a:buChar char="●"/>
            </a:pPr>
            <a:r>
              <a:rPr lang="en" sz="1900">
                <a:solidFill>
                  <a:srgbClr val="273239"/>
                </a:solidFill>
                <a:highlight>
                  <a:srgbClr val="FFFFFF"/>
                </a:highlight>
              </a:rPr>
              <a:t>Remote Login</a:t>
            </a:r>
            <a:endParaRPr sz="1900">
              <a:solidFill>
                <a:srgbClr val="273239"/>
              </a:solidFill>
              <a:highlight>
                <a:srgbClr val="FFFFFF"/>
              </a:highlight>
            </a:endParaRPr>
          </a:p>
          <a:p>
            <a:pPr marL="0" lvl="0" indent="0" algn="l" rtl="0">
              <a:lnSpc>
                <a:spcPct val="158000"/>
              </a:lnSpc>
              <a:spcBef>
                <a:spcPts val="1800"/>
              </a:spcBef>
              <a:spcAft>
                <a:spcPts val="18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1202950" y="707850"/>
            <a:ext cx="7030500" cy="569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1200"/>
              </a:spcAft>
              <a:buNone/>
            </a:pPr>
            <a:r>
              <a:rPr lang="en" sz="1350" b="0">
                <a:solidFill>
                  <a:srgbClr val="273239"/>
                </a:solidFill>
                <a:highlight>
                  <a:srgbClr val="FFFFFF"/>
                </a:highlight>
                <a:latin typeface="Nunito"/>
                <a:ea typeface="Nunito"/>
                <a:cs typeface="Nunito"/>
                <a:sym typeface="Nunito"/>
              </a:rPr>
              <a:t> </a:t>
            </a:r>
            <a:r>
              <a:rPr lang="en" sz="2900" b="0">
                <a:solidFill>
                  <a:srgbClr val="273239"/>
                </a:solidFill>
                <a:highlight>
                  <a:srgbClr val="FFFFFF"/>
                </a:highlight>
                <a:latin typeface="Nunito"/>
                <a:ea typeface="Nunito"/>
                <a:cs typeface="Nunito"/>
                <a:sym typeface="Nunito"/>
              </a:rPr>
              <a:t>Local login</a:t>
            </a:r>
            <a:endParaRPr sz="2900"/>
          </a:p>
        </p:txBody>
      </p:sp>
      <p:sp>
        <p:nvSpPr>
          <p:cNvPr id="308" name="Google Shape;308;p18"/>
          <p:cNvSpPr txBox="1">
            <a:spLocks noGrp="1"/>
          </p:cNvSpPr>
          <p:nvPr>
            <p:ph type="body" idx="1"/>
          </p:nvPr>
        </p:nvSpPr>
        <p:spPr>
          <a:xfrm>
            <a:off x="1471900" y="1277550"/>
            <a:ext cx="7470300" cy="35634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User logs into their </a:t>
            </a:r>
            <a:r>
              <a:rPr lang="en" sz="1900" b="1">
                <a:solidFill>
                  <a:srgbClr val="000000"/>
                </a:solidFill>
                <a:latin typeface="Arial"/>
                <a:ea typeface="Arial"/>
                <a:cs typeface="Arial"/>
                <a:sym typeface="Arial"/>
              </a:rPr>
              <a:t>own computer</a:t>
            </a:r>
            <a:endParaRPr sz="1900"/>
          </a:p>
        </p:txBody>
      </p:sp>
      <p:pic>
        <p:nvPicPr>
          <p:cNvPr id="309" name="Google Shape;309;p18" title="Local-Login---Telnet.png"/>
          <p:cNvPicPr preferRelativeResize="0"/>
          <p:nvPr/>
        </p:nvPicPr>
        <p:blipFill>
          <a:blip r:embed="rId3">
            <a:alphaModFix/>
          </a:blip>
          <a:stretch>
            <a:fillRect/>
          </a:stretch>
        </p:blipFill>
        <p:spPr>
          <a:xfrm>
            <a:off x="1958250" y="1956904"/>
            <a:ext cx="6625350" cy="2892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9"/>
          <p:cNvSpPr txBox="1">
            <a:spLocks noGrp="1"/>
          </p:cNvSpPr>
          <p:nvPr>
            <p:ph type="title"/>
          </p:nvPr>
        </p:nvSpPr>
        <p:spPr>
          <a:xfrm>
            <a:off x="1244975" y="808675"/>
            <a:ext cx="7030500" cy="999300"/>
          </a:xfrm>
          <a:prstGeom prst="rect">
            <a:avLst/>
          </a:prstGeom>
        </p:spPr>
        <p:txBody>
          <a:bodyPr spcFirstLastPara="1" wrap="square" lIns="91425" tIns="91425" rIns="91425" bIns="91425" anchor="t" anchorCtr="0">
            <a:normAutofit/>
          </a:bodyPr>
          <a:lstStyle/>
          <a:p>
            <a:pPr marL="0" lvl="0" indent="0" algn="l" rtl="0">
              <a:lnSpc>
                <a:spcPct val="115000"/>
              </a:lnSpc>
              <a:spcBef>
                <a:spcPts val="1400"/>
              </a:spcBef>
              <a:spcAft>
                <a:spcPts val="400"/>
              </a:spcAft>
              <a:buNone/>
            </a:pPr>
            <a:r>
              <a:rPr lang="en" sz="2900">
                <a:solidFill>
                  <a:srgbClr val="000000"/>
                </a:solidFill>
                <a:latin typeface="Arial"/>
                <a:ea typeface="Arial"/>
                <a:cs typeface="Arial"/>
                <a:sym typeface="Arial"/>
              </a:rPr>
              <a:t>Procedure of Local Login</a:t>
            </a:r>
            <a:endParaRPr sz="2900"/>
          </a:p>
        </p:txBody>
      </p:sp>
      <p:sp>
        <p:nvSpPr>
          <p:cNvPr id="315" name="Google Shape;315;p19"/>
          <p:cNvSpPr txBox="1">
            <a:spLocks noGrp="1"/>
          </p:cNvSpPr>
          <p:nvPr>
            <p:ph type="body" idx="1"/>
          </p:nvPr>
        </p:nvSpPr>
        <p:spPr>
          <a:xfrm>
            <a:off x="1303800" y="1990050"/>
            <a:ext cx="7030500" cy="1783500"/>
          </a:xfrm>
          <a:prstGeom prst="rect">
            <a:avLst/>
          </a:prstGeom>
        </p:spPr>
        <p:txBody>
          <a:bodyPr spcFirstLastPara="1" wrap="square" lIns="91425" tIns="91425" rIns="91425" bIns="91425" anchor="t" anchorCtr="0">
            <a:normAutofit/>
          </a:bodyPr>
          <a:lstStyle/>
          <a:p>
            <a:pPr marL="457200" lvl="0" indent="-349250" algn="l" rtl="0">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User types → </a:t>
            </a:r>
            <a:r>
              <a:rPr lang="en" sz="1900" b="1">
                <a:solidFill>
                  <a:srgbClr val="000000"/>
                </a:solidFill>
                <a:latin typeface="Arial"/>
                <a:ea typeface="Arial"/>
                <a:cs typeface="Arial"/>
                <a:sym typeface="Arial"/>
              </a:rPr>
              <a:t>Keyboard Input accepted</a:t>
            </a:r>
            <a:r>
              <a:rPr lang="en" sz="1900">
                <a:solidFill>
                  <a:srgbClr val="000000"/>
                </a:solidFill>
                <a:latin typeface="Arial"/>
                <a:ea typeface="Arial"/>
                <a:cs typeface="Arial"/>
                <a:sym typeface="Arial"/>
              </a:rPr>
              <a:t> by Terminal Driver</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Terminal Driver → sends characters</a:t>
            </a:r>
            <a:r>
              <a:rPr lang="en" sz="1900">
                <a:solidFill>
                  <a:srgbClr val="000000"/>
                </a:solidFill>
                <a:latin typeface="Arial"/>
                <a:ea typeface="Arial"/>
                <a:cs typeface="Arial"/>
                <a:sym typeface="Arial"/>
              </a:rPr>
              <a:t> to OS</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OS validates</a:t>
            </a:r>
            <a:r>
              <a:rPr lang="en" sz="1900">
                <a:solidFill>
                  <a:srgbClr val="000000"/>
                </a:solidFill>
                <a:latin typeface="Arial"/>
                <a:ea typeface="Arial"/>
                <a:cs typeface="Arial"/>
                <a:sym typeface="Arial"/>
              </a:rPr>
              <a:t> input and opens the required application</a:t>
            </a:r>
            <a:endParaRPr sz="1900">
              <a:solidFill>
                <a:srgbClr val="000000"/>
              </a:solidFill>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0"/>
          <p:cNvSpPr txBox="1">
            <a:spLocks noGrp="1"/>
          </p:cNvSpPr>
          <p:nvPr>
            <p:ph type="title"/>
          </p:nvPr>
        </p:nvSpPr>
        <p:spPr>
          <a:xfrm>
            <a:off x="1160975" y="623800"/>
            <a:ext cx="7030500" cy="544500"/>
          </a:xfrm>
          <a:prstGeom prst="rect">
            <a:avLst/>
          </a:prstGeom>
        </p:spPr>
        <p:txBody>
          <a:bodyPr spcFirstLastPara="1" wrap="square" lIns="91425" tIns="91425" rIns="91425" bIns="91425" anchor="t" anchorCtr="0">
            <a:noAutofit/>
          </a:bodyPr>
          <a:lstStyle/>
          <a:p>
            <a:pPr marL="0" lvl="0" indent="0" algn="l" rtl="0">
              <a:lnSpc>
                <a:spcPct val="158000"/>
              </a:lnSpc>
              <a:spcBef>
                <a:spcPts val="0"/>
              </a:spcBef>
              <a:spcAft>
                <a:spcPts val="1800"/>
              </a:spcAft>
              <a:buNone/>
            </a:pPr>
            <a:r>
              <a:rPr lang="en" sz="2900" b="0">
                <a:solidFill>
                  <a:srgbClr val="273239"/>
                </a:solidFill>
                <a:highlight>
                  <a:srgbClr val="FFFFFF"/>
                </a:highlight>
                <a:latin typeface="Nunito"/>
                <a:ea typeface="Nunito"/>
                <a:cs typeface="Nunito"/>
                <a:sym typeface="Nunito"/>
              </a:rPr>
              <a:t>Remote Login</a:t>
            </a:r>
            <a:endParaRPr sz="2900"/>
          </a:p>
        </p:txBody>
      </p:sp>
      <p:sp>
        <p:nvSpPr>
          <p:cNvPr id="321" name="Google Shape;321;p20"/>
          <p:cNvSpPr txBox="1">
            <a:spLocks noGrp="1"/>
          </p:cNvSpPr>
          <p:nvPr>
            <p:ph type="body" idx="1"/>
          </p:nvPr>
        </p:nvSpPr>
        <p:spPr>
          <a:xfrm>
            <a:off x="1421475" y="1168300"/>
            <a:ext cx="7638600" cy="3731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User logs into a </a:t>
            </a:r>
            <a:r>
              <a:rPr lang="en" sz="1900" b="1">
                <a:solidFill>
                  <a:srgbClr val="000000"/>
                </a:solidFill>
                <a:latin typeface="Arial"/>
                <a:ea typeface="Arial"/>
                <a:cs typeface="Arial"/>
                <a:sym typeface="Arial"/>
              </a:rPr>
              <a:t>remote computer</a:t>
            </a:r>
            <a:r>
              <a:rPr lang="en" sz="1900">
                <a:solidFill>
                  <a:srgbClr val="000000"/>
                </a:solidFill>
                <a:latin typeface="Arial"/>
                <a:ea typeface="Arial"/>
                <a:cs typeface="Arial"/>
                <a:sym typeface="Arial"/>
              </a:rPr>
              <a:t> and uses its services</a:t>
            </a:r>
            <a:endParaRPr sz="1900"/>
          </a:p>
        </p:txBody>
      </p:sp>
      <p:pic>
        <p:nvPicPr>
          <p:cNvPr id="322" name="Google Shape;322;p20" title="Remote-login.png"/>
          <p:cNvPicPr preferRelativeResize="0"/>
          <p:nvPr/>
        </p:nvPicPr>
        <p:blipFill>
          <a:blip r:embed="rId3">
            <a:alphaModFix/>
          </a:blip>
          <a:stretch>
            <a:fillRect/>
          </a:stretch>
        </p:blipFill>
        <p:spPr>
          <a:xfrm>
            <a:off x="1764925" y="1823750"/>
            <a:ext cx="6677874" cy="30003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1"/>
          <p:cNvSpPr txBox="1">
            <a:spLocks noGrp="1"/>
          </p:cNvSpPr>
          <p:nvPr>
            <p:ph type="title"/>
          </p:nvPr>
        </p:nvSpPr>
        <p:spPr>
          <a:xfrm>
            <a:off x="1194550" y="623800"/>
            <a:ext cx="7030500" cy="70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900"/>
              <a:t>Procedure of Remote Login</a:t>
            </a:r>
            <a:endParaRPr sz="2900"/>
          </a:p>
        </p:txBody>
      </p:sp>
      <p:sp>
        <p:nvSpPr>
          <p:cNvPr id="328" name="Google Shape;328;p21"/>
          <p:cNvSpPr txBox="1">
            <a:spLocks noGrp="1"/>
          </p:cNvSpPr>
          <p:nvPr>
            <p:ph type="body" idx="1"/>
          </p:nvPr>
        </p:nvSpPr>
        <p:spPr>
          <a:xfrm>
            <a:off x="1581150" y="1369925"/>
            <a:ext cx="7243500" cy="33702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a:t>User types →</a:t>
            </a:r>
            <a:r>
              <a:rPr lang="en" sz="1900" b="1"/>
              <a:t> Local OS accepts</a:t>
            </a:r>
            <a:r>
              <a:rPr lang="en" sz="1900"/>
              <a:t> input.</a:t>
            </a:r>
            <a:endParaRPr sz="1900"/>
          </a:p>
          <a:p>
            <a:pPr marL="457200" lvl="0" indent="-349250" algn="l" rtl="0">
              <a:spcBef>
                <a:spcPts val="0"/>
              </a:spcBef>
              <a:spcAft>
                <a:spcPts val="0"/>
              </a:spcAft>
              <a:buSzPts val="1900"/>
              <a:buChar char="●"/>
            </a:pPr>
            <a:r>
              <a:rPr lang="en" sz="1900">
                <a:solidFill>
                  <a:srgbClr val="000000"/>
                </a:solidFill>
                <a:latin typeface="Arial"/>
                <a:ea typeface="Arial"/>
                <a:cs typeface="Arial"/>
                <a:sym typeface="Arial"/>
              </a:rPr>
              <a:t>Input sent to </a:t>
            </a:r>
            <a:r>
              <a:rPr lang="en" sz="1900" b="1">
                <a:solidFill>
                  <a:srgbClr val="000000"/>
                </a:solidFill>
                <a:latin typeface="Arial"/>
                <a:ea typeface="Arial"/>
                <a:cs typeface="Arial"/>
                <a:sym typeface="Arial"/>
              </a:rPr>
              <a:t>TELNET client.</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TELNET client converts input into </a:t>
            </a:r>
            <a:r>
              <a:rPr lang="en" sz="1900" b="1">
                <a:solidFill>
                  <a:srgbClr val="000000"/>
                </a:solidFill>
                <a:latin typeface="Arial"/>
                <a:ea typeface="Arial"/>
                <a:cs typeface="Arial"/>
                <a:sym typeface="Arial"/>
              </a:rPr>
              <a:t>NVT (Network Virtual Terminal) format.</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Data sent via </a:t>
            </a:r>
            <a:r>
              <a:rPr lang="en" sz="1900" b="1">
                <a:solidFill>
                  <a:srgbClr val="000000"/>
                </a:solidFill>
                <a:latin typeface="Arial"/>
                <a:ea typeface="Arial"/>
                <a:cs typeface="Arial"/>
                <a:sym typeface="Arial"/>
              </a:rPr>
              <a:t>TCP/IP stack</a:t>
            </a:r>
            <a:r>
              <a:rPr lang="en" sz="1900">
                <a:solidFill>
                  <a:srgbClr val="000000"/>
                </a:solidFill>
                <a:latin typeface="Arial"/>
                <a:ea typeface="Arial"/>
                <a:cs typeface="Arial"/>
                <a:sym typeface="Arial"/>
              </a:rPr>
              <a:t> to remote computer.</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Remote TCP/IP stack → passes data to </a:t>
            </a:r>
            <a:r>
              <a:rPr lang="en" sz="1900" b="1">
                <a:solidFill>
                  <a:srgbClr val="000000"/>
                </a:solidFill>
                <a:latin typeface="Arial"/>
                <a:ea typeface="Arial"/>
                <a:cs typeface="Arial"/>
                <a:sym typeface="Arial"/>
              </a:rPr>
              <a:t>TELNET server.</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TELNET server converts data into remote system format.</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Remote OS receives input through </a:t>
            </a:r>
            <a:r>
              <a:rPr lang="en" sz="1900" b="1">
                <a:solidFill>
                  <a:srgbClr val="000000"/>
                </a:solidFill>
                <a:latin typeface="Arial"/>
                <a:ea typeface="Arial"/>
                <a:cs typeface="Arial"/>
                <a:sym typeface="Arial"/>
              </a:rPr>
              <a:t>pseudo-terminal driver.</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OS passes input to the required </a:t>
            </a:r>
            <a:r>
              <a:rPr lang="en" sz="1900" b="1">
                <a:solidFill>
                  <a:srgbClr val="000000"/>
                </a:solidFill>
                <a:latin typeface="Arial"/>
                <a:ea typeface="Arial"/>
                <a:cs typeface="Arial"/>
                <a:sym typeface="Arial"/>
              </a:rPr>
              <a:t>application program.</a:t>
            </a:r>
            <a:endParaRPr sz="1900" b="1">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2"/>
          <p:cNvSpPr txBox="1">
            <a:spLocks noGrp="1"/>
          </p:cNvSpPr>
          <p:nvPr>
            <p:ph type="title"/>
          </p:nvPr>
        </p:nvSpPr>
        <p:spPr>
          <a:xfrm>
            <a:off x="1186150" y="707825"/>
            <a:ext cx="7030500" cy="6369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900">
                <a:solidFill>
                  <a:srgbClr val="273239"/>
                </a:solidFill>
                <a:highlight>
                  <a:srgbClr val="FFFFFF"/>
                </a:highlight>
                <a:latin typeface="Nunito"/>
                <a:ea typeface="Nunito"/>
                <a:cs typeface="Nunito"/>
                <a:sym typeface="Nunito"/>
              </a:rPr>
              <a:t>Network Virtual Terminal(NVT)</a:t>
            </a:r>
            <a:endParaRPr sz="29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sp>
        <p:nvSpPr>
          <p:cNvPr id="334" name="Google Shape;334;p22"/>
          <p:cNvSpPr txBox="1">
            <a:spLocks noGrp="1"/>
          </p:cNvSpPr>
          <p:nvPr>
            <p:ph type="body" idx="1"/>
          </p:nvPr>
        </p:nvSpPr>
        <p:spPr>
          <a:xfrm>
            <a:off x="1303800" y="1990050"/>
            <a:ext cx="7235100" cy="18423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solidFill>
                  <a:srgbClr val="000000"/>
                </a:solidFill>
                <a:latin typeface="Arial"/>
                <a:ea typeface="Arial"/>
                <a:cs typeface="Arial"/>
                <a:sym typeface="Arial"/>
              </a:rPr>
              <a:t>A </a:t>
            </a:r>
            <a:r>
              <a:rPr lang="en" sz="1900" b="1">
                <a:solidFill>
                  <a:srgbClr val="000000"/>
                </a:solidFill>
                <a:latin typeface="Arial"/>
                <a:ea typeface="Arial"/>
                <a:cs typeface="Arial"/>
                <a:sym typeface="Arial"/>
              </a:rPr>
              <a:t>virtual terminal</a:t>
            </a:r>
            <a:r>
              <a:rPr lang="en" sz="1900">
                <a:solidFill>
                  <a:srgbClr val="000000"/>
                </a:solidFill>
                <a:latin typeface="Arial"/>
                <a:ea typeface="Arial"/>
                <a:cs typeface="Arial"/>
                <a:sym typeface="Arial"/>
              </a:rPr>
              <a:t> used in TELNET</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Provides a </a:t>
            </a:r>
            <a:r>
              <a:rPr lang="en" sz="1900" b="1">
                <a:solidFill>
                  <a:srgbClr val="000000"/>
                </a:solidFill>
                <a:latin typeface="Arial"/>
                <a:ea typeface="Arial"/>
                <a:cs typeface="Arial"/>
                <a:sym typeface="Arial"/>
              </a:rPr>
              <a:t>common format</a:t>
            </a:r>
            <a:r>
              <a:rPr lang="en" sz="1900">
                <a:solidFill>
                  <a:srgbClr val="000000"/>
                </a:solidFill>
                <a:latin typeface="Arial"/>
                <a:ea typeface="Arial"/>
                <a:cs typeface="Arial"/>
                <a:sym typeface="Arial"/>
              </a:rPr>
              <a:t> for communication</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Works across </a:t>
            </a:r>
            <a:r>
              <a:rPr lang="en" sz="1900" b="1">
                <a:solidFill>
                  <a:srgbClr val="000000"/>
                </a:solidFill>
                <a:latin typeface="Arial"/>
                <a:ea typeface="Arial"/>
                <a:cs typeface="Arial"/>
                <a:sym typeface="Arial"/>
              </a:rPr>
              <a:t>different terminals and operating systems</a:t>
            </a:r>
            <a:endParaRPr sz="1900" b="1">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Ensures smooth data exchange between </a:t>
            </a:r>
            <a:r>
              <a:rPr lang="en" sz="1900" b="1">
                <a:solidFill>
                  <a:srgbClr val="000000"/>
                </a:solidFill>
                <a:latin typeface="Arial"/>
                <a:ea typeface="Arial"/>
                <a:cs typeface="Arial"/>
                <a:sym typeface="Arial"/>
              </a:rPr>
              <a:t>client and server</a:t>
            </a:r>
            <a:endParaRPr sz="1900" b="1">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3"/>
          <p:cNvSpPr txBox="1">
            <a:spLocks noGrp="1"/>
          </p:cNvSpPr>
          <p:nvPr>
            <p:ph type="title"/>
          </p:nvPr>
        </p:nvSpPr>
        <p:spPr>
          <a:xfrm>
            <a:off x="1177750" y="716225"/>
            <a:ext cx="7030500" cy="7293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900">
                <a:solidFill>
                  <a:srgbClr val="273239"/>
                </a:solidFill>
                <a:highlight>
                  <a:srgbClr val="FFFFFF"/>
                </a:highlight>
                <a:latin typeface="Nunito"/>
                <a:ea typeface="Nunito"/>
                <a:cs typeface="Nunito"/>
                <a:sym typeface="Nunito"/>
              </a:rPr>
              <a:t>Network Virtual Terminal(NVT) in TELNET</a:t>
            </a:r>
            <a:endParaRPr sz="29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pic>
        <p:nvPicPr>
          <p:cNvPr id="340" name="Google Shape;340;p23" title="nvt-telnet.png"/>
          <p:cNvPicPr preferRelativeResize="0"/>
          <p:nvPr/>
        </p:nvPicPr>
        <p:blipFill>
          <a:blip r:embed="rId3">
            <a:alphaModFix/>
          </a:blip>
          <a:stretch>
            <a:fillRect/>
          </a:stretch>
        </p:blipFill>
        <p:spPr>
          <a:xfrm>
            <a:off x="2253175" y="1445525"/>
            <a:ext cx="5652839" cy="3393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4"/>
          <p:cNvSpPr txBox="1">
            <a:spLocks noGrp="1"/>
          </p:cNvSpPr>
          <p:nvPr>
            <p:ph type="title"/>
          </p:nvPr>
        </p:nvSpPr>
        <p:spPr>
          <a:xfrm>
            <a:off x="1303800" y="598575"/>
            <a:ext cx="7030500" cy="5781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100">
                <a:solidFill>
                  <a:srgbClr val="273239"/>
                </a:solidFill>
                <a:highlight>
                  <a:srgbClr val="FFFFFF"/>
                </a:highlight>
                <a:latin typeface="Nunito"/>
                <a:ea typeface="Nunito"/>
                <a:cs typeface="Nunito"/>
                <a:sym typeface="Nunito"/>
              </a:rPr>
              <a:t>How TELNET Works?</a:t>
            </a:r>
            <a:endParaRPr sz="21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sp>
        <p:nvSpPr>
          <p:cNvPr id="346" name="Google Shape;346;p24"/>
          <p:cNvSpPr txBox="1">
            <a:spLocks noGrp="1"/>
          </p:cNvSpPr>
          <p:nvPr>
            <p:ph type="body" idx="1"/>
          </p:nvPr>
        </p:nvSpPr>
        <p:spPr>
          <a:xfrm>
            <a:off x="1303800" y="1126200"/>
            <a:ext cx="7030500" cy="38493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sz="1600" b="1"/>
              <a:t>Client–Server Interaction</a:t>
            </a:r>
            <a:endParaRPr sz="1600" b="1"/>
          </a:p>
          <a:p>
            <a:pPr marL="914400" lvl="0" indent="-311150" algn="l" rtl="0">
              <a:spcBef>
                <a:spcPts val="0"/>
              </a:spcBef>
              <a:spcAft>
                <a:spcPts val="0"/>
              </a:spcAft>
              <a:buSzPts val="1300"/>
              <a:buChar char="●"/>
            </a:pPr>
            <a:r>
              <a:rPr lang="en"/>
              <a:t>Client (local computer) sends request to server.</a:t>
            </a:r>
            <a:endParaRPr/>
          </a:p>
          <a:p>
            <a:pPr marL="914400" lvl="0" indent="-311150" algn="l" rtl="0">
              <a:spcBef>
                <a:spcPts val="0"/>
              </a:spcBef>
              <a:spcAft>
                <a:spcPts val="0"/>
              </a:spcAft>
              <a:buSzPts val="1300"/>
              <a:buChar char="●"/>
            </a:pPr>
            <a:r>
              <a:rPr lang="en"/>
              <a:t>Connection established → client sends commands.</a:t>
            </a:r>
            <a:endParaRPr/>
          </a:p>
          <a:p>
            <a:pPr marL="914400" lvl="0" indent="-311150" algn="l" rtl="0">
              <a:spcBef>
                <a:spcPts val="0"/>
              </a:spcBef>
              <a:spcAft>
                <a:spcPts val="0"/>
              </a:spcAft>
              <a:buSzPts val="1300"/>
              <a:buChar char="●"/>
            </a:pPr>
            <a:r>
              <a:rPr lang="en"/>
              <a:t>Server processes commands and sends response.</a:t>
            </a:r>
            <a:endParaRPr/>
          </a:p>
          <a:p>
            <a:pPr marL="457200" lvl="0" indent="-330200" algn="l" rtl="0">
              <a:spcBef>
                <a:spcPts val="0"/>
              </a:spcBef>
              <a:spcAft>
                <a:spcPts val="0"/>
              </a:spcAft>
              <a:buSzPts val="1600"/>
              <a:buAutoNum type="arabicPeriod"/>
            </a:pPr>
            <a:r>
              <a:rPr lang="en" sz="1600" b="1"/>
              <a:t>Data Flow</a:t>
            </a:r>
            <a:endParaRPr sz="1600" b="1"/>
          </a:p>
          <a:p>
            <a:pPr marL="914400" lvl="0" indent="-311150" algn="l" rtl="0">
              <a:spcBef>
                <a:spcPts val="0"/>
              </a:spcBef>
              <a:spcAft>
                <a:spcPts val="0"/>
              </a:spcAft>
              <a:buSzPts val="1300"/>
              <a:buChar char="●"/>
            </a:pPr>
            <a:r>
              <a:rPr lang="en"/>
              <a:t>User types → Local OS accepts input.</a:t>
            </a:r>
            <a:endParaRPr/>
          </a:p>
          <a:p>
            <a:pPr marL="914400" lvl="0" indent="-311150" algn="l" rtl="0">
              <a:spcBef>
                <a:spcPts val="0"/>
              </a:spcBef>
              <a:spcAft>
                <a:spcPts val="0"/>
              </a:spcAft>
              <a:buSzPts val="1300"/>
              <a:buChar char="●"/>
            </a:pPr>
            <a:r>
              <a:rPr lang="en">
                <a:solidFill>
                  <a:srgbClr val="000000"/>
                </a:solidFill>
                <a:latin typeface="Arial"/>
                <a:ea typeface="Arial"/>
                <a:cs typeface="Arial"/>
                <a:sym typeface="Arial"/>
              </a:rPr>
              <a:t>TELNET client converts input → </a:t>
            </a:r>
            <a:r>
              <a:rPr lang="en" b="1">
                <a:solidFill>
                  <a:srgbClr val="000000"/>
                </a:solidFill>
                <a:latin typeface="Arial"/>
                <a:ea typeface="Arial"/>
                <a:cs typeface="Arial"/>
                <a:sym typeface="Arial"/>
              </a:rPr>
              <a:t>NVT (Network Virtual Terminal) format.</a:t>
            </a:r>
            <a:endParaRPr b="1">
              <a:solidFill>
                <a:srgbClr val="000000"/>
              </a:solidFill>
              <a:latin typeface="Arial"/>
              <a:ea typeface="Arial"/>
              <a:cs typeface="Arial"/>
              <a:sym typeface="Arial"/>
            </a:endParaRPr>
          </a:p>
          <a:p>
            <a:pPr marL="9144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Data travels via </a:t>
            </a:r>
            <a:r>
              <a:rPr lang="en" b="1">
                <a:solidFill>
                  <a:srgbClr val="000000"/>
                </a:solidFill>
                <a:latin typeface="Arial"/>
                <a:ea typeface="Arial"/>
                <a:cs typeface="Arial"/>
                <a:sym typeface="Arial"/>
              </a:rPr>
              <a:t>TCP/IP</a:t>
            </a:r>
            <a:r>
              <a:rPr lang="en">
                <a:solidFill>
                  <a:srgbClr val="000000"/>
                </a:solidFill>
                <a:latin typeface="Arial"/>
                <a:ea typeface="Arial"/>
                <a:cs typeface="Arial"/>
                <a:sym typeface="Arial"/>
              </a:rPr>
              <a:t> to remote computer.</a:t>
            </a:r>
            <a:endParaRPr>
              <a:solidFill>
                <a:srgbClr val="000000"/>
              </a:solidFill>
              <a:latin typeface="Arial"/>
              <a:ea typeface="Arial"/>
              <a:cs typeface="Arial"/>
              <a:sym typeface="Arial"/>
            </a:endParaRPr>
          </a:p>
          <a:p>
            <a:pPr marL="9144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TELNET server converts NVT → remote system format.</a:t>
            </a:r>
            <a:endParaRPr>
              <a:solidFill>
                <a:srgbClr val="000000"/>
              </a:solidFill>
              <a:latin typeface="Arial"/>
              <a:ea typeface="Arial"/>
              <a:cs typeface="Arial"/>
              <a:sym typeface="Arial"/>
            </a:endParaRPr>
          </a:p>
          <a:p>
            <a:pPr marL="9144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Remote OS passes data to the correct application.</a:t>
            </a:r>
            <a:endParaRPr>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AutoNum type="arabicPeriod"/>
            </a:pPr>
            <a:r>
              <a:rPr lang="en" sz="1600" b="1">
                <a:solidFill>
                  <a:srgbClr val="000000"/>
                </a:solidFill>
                <a:latin typeface="Arial"/>
                <a:ea typeface="Arial"/>
                <a:cs typeface="Arial"/>
                <a:sym typeface="Arial"/>
              </a:rPr>
              <a:t>Network Virtual Terminal (NVT)</a:t>
            </a:r>
            <a:endParaRPr sz="1600" b="1">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A </a:t>
            </a:r>
            <a:r>
              <a:rPr lang="en" b="1">
                <a:solidFill>
                  <a:srgbClr val="000000"/>
                </a:solidFill>
                <a:latin typeface="Arial"/>
                <a:ea typeface="Arial"/>
                <a:cs typeface="Arial"/>
                <a:sym typeface="Arial"/>
              </a:rPr>
              <a:t>virtual terminal</a:t>
            </a:r>
            <a:r>
              <a:rPr lang="en">
                <a:solidFill>
                  <a:srgbClr val="000000"/>
                </a:solidFill>
                <a:latin typeface="Arial"/>
                <a:ea typeface="Arial"/>
                <a:cs typeface="Arial"/>
                <a:sym typeface="Arial"/>
              </a:rPr>
              <a:t> in TELNET.</a:t>
            </a:r>
            <a:endParaRPr>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Provides a </a:t>
            </a:r>
            <a:r>
              <a:rPr lang="en" b="1">
                <a:solidFill>
                  <a:srgbClr val="000000"/>
                </a:solidFill>
                <a:latin typeface="Arial"/>
                <a:ea typeface="Arial"/>
                <a:cs typeface="Arial"/>
                <a:sym typeface="Arial"/>
              </a:rPr>
              <a:t>common structure</a:t>
            </a:r>
            <a:r>
              <a:rPr lang="en">
                <a:solidFill>
                  <a:srgbClr val="000000"/>
                </a:solidFill>
                <a:latin typeface="Arial"/>
                <a:ea typeface="Arial"/>
                <a:cs typeface="Arial"/>
                <a:sym typeface="Arial"/>
              </a:rPr>
              <a:t> for all terminals.</a:t>
            </a:r>
            <a:endParaRPr>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
                <a:solidFill>
                  <a:srgbClr val="000000"/>
                </a:solidFill>
                <a:latin typeface="Arial"/>
                <a:ea typeface="Arial"/>
                <a:cs typeface="Arial"/>
                <a:sym typeface="Arial"/>
              </a:rPr>
              <a:t>Makes different systems </a:t>
            </a:r>
            <a:r>
              <a:rPr lang="en" b="1">
                <a:solidFill>
                  <a:srgbClr val="000000"/>
                </a:solidFill>
                <a:latin typeface="Arial"/>
                <a:ea typeface="Arial"/>
                <a:cs typeface="Arial"/>
                <a:sym typeface="Arial"/>
              </a:rPr>
              <a:t>work together easily.</a:t>
            </a:r>
            <a:endParaRPr>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900">
                <a:solidFill>
                  <a:srgbClr val="273239"/>
                </a:solidFill>
                <a:highlight>
                  <a:srgbClr val="FFFFFF"/>
                </a:highlight>
                <a:latin typeface="Nunito"/>
                <a:ea typeface="Nunito"/>
                <a:cs typeface="Nunito"/>
                <a:sym typeface="Nunito"/>
              </a:rPr>
              <a:t>Uses of TELNET</a:t>
            </a:r>
            <a:endParaRPr sz="29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sp>
        <p:nvSpPr>
          <p:cNvPr id="352" name="Google Shape;352;p25"/>
          <p:cNvSpPr txBox="1">
            <a:spLocks noGrp="1"/>
          </p:cNvSpPr>
          <p:nvPr>
            <p:ph type="body" idx="1"/>
          </p:nvPr>
        </p:nvSpPr>
        <p:spPr>
          <a:xfrm>
            <a:off x="1236575" y="1527800"/>
            <a:ext cx="7030500" cy="25416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b="1">
                <a:solidFill>
                  <a:srgbClr val="000000"/>
                </a:solidFill>
                <a:latin typeface="Arial"/>
                <a:ea typeface="Arial"/>
                <a:cs typeface="Arial"/>
                <a:sym typeface="Arial"/>
              </a:rPr>
              <a:t>Remote Control:</a:t>
            </a:r>
            <a:r>
              <a:rPr lang="en" sz="1900">
                <a:solidFill>
                  <a:srgbClr val="000000"/>
                </a:solidFill>
                <a:latin typeface="Arial"/>
                <a:ea typeface="Arial"/>
                <a:cs typeface="Arial"/>
                <a:sym typeface="Arial"/>
              </a:rPr>
              <a:t> Access and manage computers from far away.</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Network Checking:</a:t>
            </a:r>
            <a:r>
              <a:rPr lang="en" sz="1900">
                <a:solidFill>
                  <a:srgbClr val="000000"/>
                </a:solidFill>
                <a:latin typeface="Arial"/>
                <a:ea typeface="Arial"/>
                <a:cs typeface="Arial"/>
                <a:sym typeface="Arial"/>
              </a:rPr>
              <a:t> Test and fix problems in network connections.</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Learning Commands:</a:t>
            </a:r>
            <a:r>
              <a:rPr lang="en" sz="1900">
                <a:solidFill>
                  <a:srgbClr val="000000"/>
                </a:solidFill>
                <a:latin typeface="Arial"/>
                <a:ea typeface="Arial"/>
                <a:cs typeface="Arial"/>
                <a:sym typeface="Arial"/>
              </a:rPr>
              <a:t> Practice and understand command-line instructions.</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Automation:</a:t>
            </a:r>
            <a:r>
              <a:rPr lang="en" sz="1900">
                <a:solidFill>
                  <a:srgbClr val="000000"/>
                </a:solidFill>
                <a:latin typeface="Arial"/>
                <a:ea typeface="Arial"/>
                <a:cs typeface="Arial"/>
                <a:sym typeface="Arial"/>
              </a:rPr>
              <a:t> Make a computer do tasks automatically.</a:t>
            </a:r>
            <a:endParaRPr sz="1900">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Advantages of TELNET</a:t>
            </a:r>
            <a:endParaRPr/>
          </a:p>
        </p:txBody>
      </p:sp>
      <p:sp>
        <p:nvSpPr>
          <p:cNvPr id="358" name="Google Shape;358;p26"/>
          <p:cNvSpPr txBox="1">
            <a:spLocks noGrp="1"/>
          </p:cNvSpPr>
          <p:nvPr>
            <p:ph type="body" idx="1"/>
          </p:nvPr>
        </p:nvSpPr>
        <p:spPr>
          <a:xfrm>
            <a:off x="1421475" y="1443775"/>
            <a:ext cx="7030500" cy="2892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Char char="●"/>
            </a:pPr>
            <a:r>
              <a:rPr lang="en" sz="1900" b="1">
                <a:solidFill>
                  <a:srgbClr val="000000"/>
                </a:solidFill>
                <a:latin typeface="Arial"/>
                <a:ea typeface="Arial"/>
                <a:cs typeface="Arial"/>
                <a:sym typeface="Arial"/>
              </a:rPr>
              <a:t>Remote Access:</a:t>
            </a:r>
            <a:r>
              <a:rPr lang="en" sz="1900">
                <a:solidFill>
                  <a:srgbClr val="000000"/>
                </a:solidFill>
                <a:latin typeface="Arial"/>
                <a:ea typeface="Arial"/>
                <a:cs typeface="Arial"/>
                <a:sym typeface="Arial"/>
              </a:rPr>
              <a:t> You can use another computer from far away.</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Easy Communication:</a:t>
            </a:r>
            <a:r>
              <a:rPr lang="en" sz="1900">
                <a:solidFill>
                  <a:srgbClr val="000000"/>
                </a:solidFill>
                <a:latin typeface="Arial"/>
                <a:ea typeface="Arial"/>
                <a:cs typeface="Arial"/>
                <a:sym typeface="Arial"/>
              </a:rPr>
              <a:t> It works well with fewer problems in sending data.</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Time-Saving:</a:t>
            </a:r>
            <a:r>
              <a:rPr lang="en" sz="1900">
                <a:solidFill>
                  <a:srgbClr val="000000"/>
                </a:solidFill>
                <a:latin typeface="Arial"/>
                <a:ea typeface="Arial"/>
                <a:cs typeface="Arial"/>
                <a:sym typeface="Arial"/>
              </a:rPr>
              <a:t> You don’t need to be physically present to work on a computer.</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Cross-System Connection:</a:t>
            </a:r>
            <a:r>
              <a:rPr lang="en" sz="1900">
                <a:solidFill>
                  <a:srgbClr val="000000"/>
                </a:solidFill>
                <a:latin typeface="Arial"/>
                <a:ea typeface="Arial"/>
                <a:cs typeface="Arial"/>
                <a:sym typeface="Arial"/>
              </a:rPr>
              <a:t> Old computers can connect to new computers, even with different operating systems.</a:t>
            </a:r>
            <a:endParaRPr sz="190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900"/>
              <a:t>Disadvantages of TELNET</a:t>
            </a:r>
            <a:endParaRPr sz="2900"/>
          </a:p>
        </p:txBody>
      </p:sp>
      <p:sp>
        <p:nvSpPr>
          <p:cNvPr id="364" name="Google Shape;364;p27"/>
          <p:cNvSpPr txBox="1">
            <a:spLocks noGrp="1"/>
          </p:cNvSpPr>
          <p:nvPr>
            <p:ph type="body" idx="1"/>
          </p:nvPr>
        </p:nvSpPr>
        <p:spPr>
          <a:xfrm>
            <a:off x="1564350" y="1597875"/>
            <a:ext cx="7030500" cy="2976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Hard for Beginners:</a:t>
            </a:r>
            <a:r>
              <a:rPr lang="en" sz="1900">
                <a:solidFill>
                  <a:srgbClr val="000000"/>
                </a:solidFill>
                <a:latin typeface="Arial"/>
                <a:ea typeface="Arial"/>
                <a:cs typeface="Arial"/>
                <a:sym typeface="Arial"/>
              </a:rPr>
              <a:t> It can be complex for new users to understand because requires learning commands and network concepts, which may be confusing.</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Not Secure:</a:t>
            </a:r>
            <a:r>
              <a:rPr lang="en" sz="1900">
                <a:solidFill>
                  <a:srgbClr val="000000"/>
                </a:solidFill>
                <a:latin typeface="Arial"/>
                <a:ea typeface="Arial"/>
                <a:cs typeface="Arial"/>
                <a:sym typeface="Arial"/>
              </a:rPr>
              <a:t> Data is sent as plain text, so it can be easily seen by others because anyone intercepting the data can read sensitive information like passwords.</a:t>
            </a:r>
            <a:endParaRPr sz="19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b="1">
                <a:solidFill>
                  <a:srgbClr val="000000"/>
                </a:solidFill>
                <a:latin typeface="Arial"/>
                <a:ea typeface="Arial"/>
                <a:cs typeface="Arial"/>
                <a:sym typeface="Arial"/>
              </a:rPr>
              <a:t>Limited Features:</a:t>
            </a:r>
            <a:r>
              <a:rPr lang="en" sz="1900">
                <a:solidFill>
                  <a:srgbClr val="000000"/>
                </a:solidFill>
                <a:latin typeface="Arial"/>
                <a:ea typeface="Arial"/>
                <a:cs typeface="Arial"/>
                <a:sym typeface="Arial"/>
              </a:rPr>
              <a:t> Some functions may not work if the local and remote computers aren’t fully compatible.</a:t>
            </a:r>
            <a:endParaRPr sz="1900">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8"/>
          <p:cNvSpPr txBox="1">
            <a:spLocks noGrp="1"/>
          </p:cNvSpPr>
          <p:nvPr>
            <p:ph type="title"/>
          </p:nvPr>
        </p:nvSpPr>
        <p:spPr>
          <a:xfrm>
            <a:off x="1251761" y="360682"/>
            <a:ext cx="7030500" cy="9993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1800" dirty="0">
                <a:solidFill>
                  <a:srgbClr val="273239"/>
                </a:solidFill>
                <a:highlight>
                  <a:srgbClr val="FFFFFF"/>
                </a:highlight>
                <a:latin typeface="Nunito"/>
                <a:ea typeface="Nunito"/>
                <a:cs typeface="Nunito"/>
                <a:sym typeface="Nunito"/>
              </a:rPr>
              <a:t>Modes of Operation</a:t>
            </a:r>
            <a:endParaRPr sz="1800" dirty="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dirty="0"/>
          </a:p>
        </p:txBody>
      </p:sp>
      <p:sp>
        <p:nvSpPr>
          <p:cNvPr id="370" name="Google Shape;370;p28"/>
          <p:cNvSpPr txBox="1">
            <a:spLocks noGrp="1"/>
          </p:cNvSpPr>
          <p:nvPr>
            <p:ph type="body" idx="1"/>
          </p:nvPr>
        </p:nvSpPr>
        <p:spPr>
          <a:xfrm>
            <a:off x="1186150" y="862361"/>
            <a:ext cx="7268700" cy="3802064"/>
          </a:xfrm>
          <a:prstGeom prst="rect">
            <a:avLst/>
          </a:prstGeom>
        </p:spPr>
        <p:txBody>
          <a:bodyPr spcFirstLastPara="1" wrap="square" lIns="91425" tIns="91425" rIns="91425" bIns="91425" anchor="t" anchorCtr="0">
            <a:normAutofit fontScale="70000" lnSpcReduction="20000"/>
          </a:bodyPr>
          <a:lstStyle/>
          <a:p>
            <a:pPr marL="714375" lvl="0" indent="-342900" algn="l" rtl="0">
              <a:lnSpc>
                <a:spcPct val="158000"/>
              </a:lnSpc>
              <a:spcBef>
                <a:spcPts val="0"/>
              </a:spcBef>
              <a:spcAft>
                <a:spcPts val="0"/>
              </a:spcAft>
              <a:buClr>
                <a:srgbClr val="273239"/>
              </a:buClr>
              <a:buSzPts val="1350"/>
              <a:buFont typeface="+mj-lt"/>
              <a:buAutoNum type="arabicPeriod"/>
            </a:pPr>
            <a:r>
              <a:rPr lang="en" sz="1800" b="1" dirty="0">
                <a:solidFill>
                  <a:srgbClr val="273239"/>
                </a:solidFill>
                <a:highlight>
                  <a:srgbClr val="FFFFFF"/>
                </a:highlight>
              </a:rPr>
              <a:t>Default Mode: </a:t>
            </a:r>
            <a:r>
              <a:rPr lang="en" sz="1800" dirty="0">
                <a:solidFill>
                  <a:srgbClr val="273239"/>
                </a:solidFill>
                <a:highlight>
                  <a:srgbClr val="FFFFFF"/>
                </a:highlight>
              </a:rPr>
              <a:t>If no other modes are invoked then this mode is used. Echoing is performed in this mode by the client. In this mode, the user types a character and the client echoes the character on the screen but it does not send it until the whole line is completed.</a:t>
            </a:r>
          </a:p>
          <a:p>
            <a:pPr lvl="2"/>
            <a:r>
              <a:rPr lang="en-US" sz="1400" b="1" dirty="0"/>
              <a:t>Example:</a:t>
            </a:r>
            <a:endParaRPr lang="en-US" sz="1400" dirty="0"/>
          </a:p>
          <a:p>
            <a:pPr lvl="2"/>
            <a:r>
              <a:rPr lang="en-US" sz="1400" dirty="0"/>
              <a:t>You type: </a:t>
            </a:r>
            <a:r>
              <a:rPr lang="en-US" sz="1300" dirty="0"/>
              <a:t>ls -l</a:t>
            </a:r>
            <a:endParaRPr lang="en-US" sz="1400" dirty="0"/>
          </a:p>
          <a:p>
            <a:pPr lvl="2"/>
            <a:r>
              <a:rPr lang="en-US" sz="1400" dirty="0"/>
              <a:t>You see: </a:t>
            </a:r>
            <a:r>
              <a:rPr lang="en-US" sz="1300" dirty="0"/>
              <a:t>ls -l</a:t>
            </a:r>
            <a:r>
              <a:rPr lang="en-US" sz="1400" dirty="0"/>
              <a:t> on your screen</a:t>
            </a:r>
          </a:p>
          <a:p>
            <a:pPr lvl="2"/>
            <a:r>
              <a:rPr lang="en-US" sz="1400" dirty="0"/>
              <a:t>Only after pressing </a:t>
            </a:r>
            <a:r>
              <a:rPr lang="en-US" sz="1400" b="1" dirty="0"/>
              <a:t>Enter</a:t>
            </a:r>
            <a:r>
              <a:rPr lang="en-US" sz="1400" dirty="0"/>
              <a:t>, the command is sent → server shows the list of files.</a:t>
            </a:r>
          </a:p>
          <a:p>
            <a:pPr marL="1285875" lvl="2" indent="0">
              <a:lnSpc>
                <a:spcPct val="158000"/>
              </a:lnSpc>
              <a:buClr>
                <a:srgbClr val="273239"/>
              </a:buClr>
              <a:buSzPts val="1350"/>
              <a:buNone/>
            </a:pPr>
            <a:endParaRPr sz="1400" dirty="0">
              <a:solidFill>
                <a:srgbClr val="273239"/>
              </a:solidFill>
              <a:highlight>
                <a:srgbClr val="FFFFFF"/>
              </a:highlight>
            </a:endParaRPr>
          </a:p>
          <a:p>
            <a:pPr marL="714375" lvl="0" indent="-342900" algn="l" rtl="0">
              <a:lnSpc>
                <a:spcPct val="158000"/>
              </a:lnSpc>
              <a:spcBef>
                <a:spcPts val="0"/>
              </a:spcBef>
              <a:spcAft>
                <a:spcPts val="0"/>
              </a:spcAft>
              <a:buClr>
                <a:srgbClr val="273239"/>
              </a:buClr>
              <a:buSzPts val="1350"/>
              <a:buFont typeface="+mj-lt"/>
              <a:buAutoNum type="arabicPeriod"/>
            </a:pPr>
            <a:r>
              <a:rPr lang="en" sz="1800" b="1" dirty="0">
                <a:solidFill>
                  <a:srgbClr val="273239"/>
                </a:solidFill>
                <a:highlight>
                  <a:srgbClr val="FFFFFF"/>
                </a:highlight>
              </a:rPr>
              <a:t>Character Mode:</a:t>
            </a:r>
            <a:r>
              <a:rPr lang="en" sz="1800" dirty="0">
                <a:solidFill>
                  <a:srgbClr val="273239"/>
                </a:solidFill>
                <a:highlight>
                  <a:srgbClr val="FFFFFF"/>
                </a:highlight>
              </a:rPr>
              <a:t> Each character typed in this mode is sent by the client to the server. A server in this type of mode normally echoes characters back to be displayed on the client's screen.</a:t>
            </a:r>
          </a:p>
          <a:p>
            <a:pPr lvl="2"/>
            <a:r>
              <a:rPr lang="en-US" sz="1400" b="1" dirty="0">
                <a:highlight>
                  <a:srgbClr val="FFFFFF"/>
                </a:highlight>
              </a:rPr>
              <a:t>Example:</a:t>
            </a:r>
            <a:endParaRPr lang="en-US" sz="1400" dirty="0">
              <a:highlight>
                <a:srgbClr val="FFFFFF"/>
              </a:highlight>
            </a:endParaRPr>
          </a:p>
          <a:p>
            <a:pPr lvl="2"/>
            <a:r>
              <a:rPr lang="en-US" sz="1400" dirty="0">
                <a:highlight>
                  <a:srgbClr val="FFFFFF"/>
                </a:highlight>
              </a:rPr>
              <a:t>You type: </a:t>
            </a:r>
            <a:r>
              <a:rPr lang="en-US" sz="1300" dirty="0" err="1">
                <a:highlight>
                  <a:srgbClr val="FFFFFF"/>
                </a:highlight>
              </a:rPr>
              <a:t>pwd</a:t>
            </a:r>
            <a:endParaRPr lang="en-US" sz="1400" dirty="0">
              <a:highlight>
                <a:srgbClr val="FFFFFF"/>
              </a:highlight>
            </a:endParaRPr>
          </a:p>
          <a:p>
            <a:pPr lvl="2"/>
            <a:r>
              <a:rPr lang="en-US" sz="1400" dirty="0">
                <a:highlight>
                  <a:srgbClr val="FFFFFF"/>
                </a:highlight>
              </a:rPr>
              <a:t>First </a:t>
            </a:r>
            <a:r>
              <a:rPr lang="en-US" sz="1300" dirty="0">
                <a:highlight>
                  <a:srgbClr val="FFFFFF"/>
                </a:highlight>
              </a:rPr>
              <a:t>p</a:t>
            </a:r>
            <a:r>
              <a:rPr lang="en-US" sz="1400" dirty="0">
                <a:highlight>
                  <a:srgbClr val="FFFFFF"/>
                </a:highlight>
              </a:rPr>
              <a:t> is sent → server shows </a:t>
            </a:r>
            <a:r>
              <a:rPr lang="en-US" sz="1300" dirty="0">
                <a:highlight>
                  <a:srgbClr val="FFFFFF"/>
                </a:highlight>
              </a:rPr>
              <a:t>p</a:t>
            </a:r>
            <a:endParaRPr lang="en-US" sz="1400" dirty="0">
              <a:highlight>
                <a:srgbClr val="FFFFFF"/>
              </a:highlight>
            </a:endParaRPr>
          </a:p>
          <a:p>
            <a:pPr lvl="2"/>
            <a:r>
              <a:rPr lang="en-US" sz="1400" dirty="0">
                <a:highlight>
                  <a:srgbClr val="FFFFFF"/>
                </a:highlight>
              </a:rPr>
              <a:t>Then </a:t>
            </a:r>
            <a:r>
              <a:rPr lang="en-US" sz="1300" dirty="0">
                <a:highlight>
                  <a:srgbClr val="FFFFFF"/>
                </a:highlight>
              </a:rPr>
              <a:t>w</a:t>
            </a:r>
            <a:r>
              <a:rPr lang="en-US" sz="1400" dirty="0">
                <a:highlight>
                  <a:srgbClr val="FFFFFF"/>
                </a:highlight>
              </a:rPr>
              <a:t> is sent → server shows </a:t>
            </a:r>
            <a:r>
              <a:rPr lang="en-US" sz="1300" dirty="0">
                <a:highlight>
                  <a:srgbClr val="FFFFFF"/>
                </a:highlight>
              </a:rPr>
              <a:t>w</a:t>
            </a:r>
            <a:endParaRPr lang="en-US" sz="1400" dirty="0">
              <a:highlight>
                <a:srgbClr val="FFFFFF"/>
              </a:highlight>
            </a:endParaRPr>
          </a:p>
          <a:p>
            <a:pPr lvl="2"/>
            <a:r>
              <a:rPr lang="en-US" sz="1400" dirty="0">
                <a:highlight>
                  <a:srgbClr val="FFFFFF"/>
                </a:highlight>
              </a:rPr>
              <a:t>Then </a:t>
            </a:r>
            <a:r>
              <a:rPr lang="en-US" sz="1300" dirty="0">
                <a:highlight>
                  <a:srgbClr val="FFFFFF"/>
                </a:highlight>
              </a:rPr>
              <a:t>d</a:t>
            </a:r>
            <a:r>
              <a:rPr lang="en-US" sz="1400" dirty="0">
                <a:highlight>
                  <a:srgbClr val="FFFFFF"/>
                </a:highlight>
              </a:rPr>
              <a:t> is sent → server shows </a:t>
            </a:r>
            <a:r>
              <a:rPr lang="en-US" sz="1300" dirty="0">
                <a:highlight>
                  <a:srgbClr val="FFFFFF"/>
                </a:highlight>
              </a:rPr>
              <a:t>d</a:t>
            </a:r>
            <a:endParaRPr lang="en-US" sz="1400" dirty="0">
              <a:highlight>
                <a:srgbClr val="FFFFFF"/>
              </a:highlight>
            </a:endParaRPr>
          </a:p>
          <a:p>
            <a:pPr lvl="2"/>
            <a:r>
              <a:rPr lang="en-US" sz="1400" dirty="0">
                <a:highlight>
                  <a:srgbClr val="FFFFFF"/>
                </a:highlight>
              </a:rPr>
              <a:t>Finally, server processes the command.</a:t>
            </a:r>
          </a:p>
          <a:p>
            <a:pPr marL="685800" lvl="0" indent="-314325" algn="l" rtl="0">
              <a:lnSpc>
                <a:spcPct val="158000"/>
              </a:lnSpc>
              <a:spcBef>
                <a:spcPts val="0"/>
              </a:spcBef>
              <a:spcAft>
                <a:spcPts val="0"/>
              </a:spcAft>
              <a:buClr>
                <a:srgbClr val="273239"/>
              </a:buClr>
              <a:buSzPts val="1350"/>
              <a:buChar char="●"/>
            </a:pPr>
            <a:endParaRPr sz="1350" dirty="0">
              <a:solidFill>
                <a:srgbClr val="273239"/>
              </a:solidFill>
              <a:highlight>
                <a:srgbClr val="FFFFFF"/>
              </a:highlight>
            </a:endParaRPr>
          </a:p>
          <a:p>
            <a:pPr marL="0" lvl="0" indent="0" algn="l" rtl="0">
              <a:spcBef>
                <a:spcPts val="1800"/>
              </a:spcBef>
              <a:spcAft>
                <a:spcPts val="120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F12AB-08A0-5C73-C315-98EAC90FA1F5}"/>
              </a:ext>
            </a:extLst>
          </p:cNvPr>
          <p:cNvSpPr>
            <a:spLocks noGrp="1"/>
          </p:cNvSpPr>
          <p:nvPr>
            <p:ph type="title"/>
          </p:nvPr>
        </p:nvSpPr>
        <p:spPr/>
        <p:txBody>
          <a:bodyPr/>
          <a:lstStyle/>
          <a:p>
            <a:r>
              <a:rPr lang="en" dirty="0">
                <a:solidFill>
                  <a:srgbClr val="273239"/>
                </a:solidFill>
                <a:highlight>
                  <a:srgbClr val="FFFFFF"/>
                </a:highlight>
                <a:latin typeface="Nunito"/>
                <a:ea typeface="Nunito"/>
                <a:cs typeface="Nunito"/>
                <a:sym typeface="Nunito"/>
              </a:rPr>
              <a:t>Modes of Operation</a:t>
            </a:r>
            <a:endParaRPr lang="en-IN" dirty="0"/>
          </a:p>
        </p:txBody>
      </p:sp>
      <p:sp>
        <p:nvSpPr>
          <p:cNvPr id="3" name="Text Placeholder 2">
            <a:extLst>
              <a:ext uri="{FF2B5EF4-FFF2-40B4-BE49-F238E27FC236}">
                <a16:creationId xmlns:a16="http://schemas.microsoft.com/office/drawing/2014/main" id="{0C00D73B-3813-B408-784B-F40069F1E7C0}"/>
              </a:ext>
            </a:extLst>
          </p:cNvPr>
          <p:cNvSpPr>
            <a:spLocks noGrp="1"/>
          </p:cNvSpPr>
          <p:nvPr>
            <p:ph type="body" idx="1"/>
          </p:nvPr>
        </p:nvSpPr>
        <p:spPr>
          <a:xfrm>
            <a:off x="1445049" y="1521699"/>
            <a:ext cx="6487185" cy="2541600"/>
          </a:xfrm>
        </p:spPr>
        <p:txBody>
          <a:bodyPr/>
          <a:lstStyle/>
          <a:p>
            <a:pPr marL="146050" indent="0">
              <a:buNone/>
            </a:pPr>
            <a:r>
              <a:rPr lang="en-US" sz="1600" b="1" dirty="0">
                <a:solidFill>
                  <a:srgbClr val="273239"/>
                </a:solidFill>
                <a:highlight>
                  <a:srgbClr val="FFFFFF"/>
                </a:highlight>
              </a:rPr>
              <a:t>3</a:t>
            </a:r>
            <a:r>
              <a:rPr lang="en-US" sz="2000" b="1" dirty="0">
                <a:solidFill>
                  <a:srgbClr val="273239"/>
                </a:solidFill>
                <a:highlight>
                  <a:srgbClr val="FFFFFF"/>
                </a:highlight>
              </a:rPr>
              <a:t>.   </a:t>
            </a:r>
            <a:r>
              <a:rPr lang="en-US" sz="1800" b="1" dirty="0">
                <a:solidFill>
                  <a:srgbClr val="273239"/>
                </a:solidFill>
                <a:highlight>
                  <a:srgbClr val="FFFFFF"/>
                </a:highlight>
              </a:rPr>
              <a:t>Line Mode:</a:t>
            </a:r>
            <a:r>
              <a:rPr lang="en-US" sz="1800" dirty="0">
                <a:solidFill>
                  <a:srgbClr val="273239"/>
                </a:solidFill>
                <a:highlight>
                  <a:srgbClr val="FFFFFF"/>
                </a:highlight>
              </a:rPr>
              <a:t> </a:t>
            </a:r>
            <a:r>
              <a:rPr lang="en-US" sz="1600" dirty="0">
                <a:solidFill>
                  <a:srgbClr val="273239"/>
                </a:solidFill>
                <a:highlight>
                  <a:srgbClr val="FFFFFF"/>
                </a:highlight>
              </a:rPr>
              <a:t> Line editing like echoing, character erasing, etc. is done from the client side. The client will send the whole line to the server.</a:t>
            </a:r>
          </a:p>
          <a:p>
            <a:pPr lvl="1"/>
            <a:r>
              <a:rPr lang="en-US" sz="1400" b="1" dirty="0">
                <a:highlight>
                  <a:srgbClr val="FFFFFF"/>
                </a:highlight>
              </a:rPr>
              <a:t>Example:</a:t>
            </a:r>
            <a:endParaRPr lang="en-US" sz="1400" dirty="0">
              <a:highlight>
                <a:srgbClr val="FFFFFF"/>
              </a:highlight>
            </a:endParaRPr>
          </a:p>
          <a:p>
            <a:pPr lvl="2"/>
            <a:r>
              <a:rPr lang="en-US" sz="1400" dirty="0">
                <a:highlight>
                  <a:srgbClr val="FFFFFF"/>
                </a:highlight>
              </a:rPr>
              <a:t>You type: </a:t>
            </a:r>
            <a:r>
              <a:rPr lang="en-US" sz="1400" dirty="0" err="1">
                <a:highlight>
                  <a:srgbClr val="FFFFFF"/>
                </a:highlight>
              </a:rPr>
              <a:t>sl</a:t>
            </a:r>
            <a:r>
              <a:rPr lang="en-US" sz="1400" dirty="0">
                <a:highlight>
                  <a:srgbClr val="FFFFFF"/>
                </a:highlight>
              </a:rPr>
              <a:t> -l (by mistake)</a:t>
            </a:r>
          </a:p>
          <a:p>
            <a:pPr lvl="2"/>
            <a:r>
              <a:rPr lang="en-US" sz="1400" dirty="0">
                <a:highlight>
                  <a:srgbClr val="FFFFFF"/>
                </a:highlight>
              </a:rPr>
              <a:t>You press </a:t>
            </a:r>
            <a:r>
              <a:rPr lang="en-US" sz="1400" b="1" dirty="0">
                <a:highlight>
                  <a:srgbClr val="FFFFFF"/>
                </a:highlight>
              </a:rPr>
              <a:t>Backspace</a:t>
            </a:r>
            <a:r>
              <a:rPr lang="en-US" sz="1400" dirty="0">
                <a:highlight>
                  <a:srgbClr val="FFFFFF"/>
                </a:highlight>
              </a:rPr>
              <a:t> and correct it to ls -l</a:t>
            </a:r>
          </a:p>
          <a:p>
            <a:pPr lvl="2"/>
            <a:r>
              <a:rPr lang="en-US" sz="1400" dirty="0">
                <a:highlight>
                  <a:srgbClr val="FFFFFF"/>
                </a:highlight>
              </a:rPr>
              <a:t>Only the corrected line ls -l is sent to the server.</a:t>
            </a:r>
          </a:p>
          <a:p>
            <a:endParaRPr lang="en-IN" dirty="0"/>
          </a:p>
        </p:txBody>
      </p:sp>
    </p:spTree>
    <p:extLst>
      <p:ext uri="{BB962C8B-B14F-4D97-AF65-F5344CB8AC3E}">
        <p14:creationId xmlns:p14="http://schemas.microsoft.com/office/powerpoint/2010/main" val="47171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1800">
                <a:solidFill>
                  <a:srgbClr val="273239"/>
                </a:solidFill>
                <a:highlight>
                  <a:srgbClr val="FFFFFF"/>
                </a:highlight>
                <a:latin typeface="Nunito"/>
                <a:ea typeface="Nunito"/>
                <a:cs typeface="Nunito"/>
                <a:sym typeface="Nunito"/>
              </a:rPr>
              <a:t>Conclusion</a:t>
            </a:r>
            <a:endParaRPr sz="1800">
              <a:solidFill>
                <a:srgbClr val="273239"/>
              </a:solidFill>
              <a:highlight>
                <a:srgbClr val="FFFFFF"/>
              </a:highlight>
              <a:latin typeface="Nunito"/>
              <a:ea typeface="Nunito"/>
              <a:cs typeface="Nunito"/>
              <a:sym typeface="Nunito"/>
            </a:endParaRPr>
          </a:p>
          <a:p>
            <a:pPr marL="0" lvl="0" indent="0" algn="l" rtl="0">
              <a:spcBef>
                <a:spcPts val="0"/>
              </a:spcBef>
              <a:spcAft>
                <a:spcPts val="0"/>
              </a:spcAft>
              <a:buNone/>
            </a:pPr>
            <a:endParaRPr/>
          </a:p>
        </p:txBody>
      </p:sp>
      <p:sp>
        <p:nvSpPr>
          <p:cNvPr id="376" name="Google Shape;376;p29"/>
          <p:cNvSpPr txBox="1">
            <a:spLocks noGrp="1"/>
          </p:cNvSpPr>
          <p:nvPr>
            <p:ph type="body" idx="1"/>
          </p:nvPr>
        </p:nvSpPr>
        <p:spPr>
          <a:xfrm>
            <a:off x="1270175" y="1435350"/>
            <a:ext cx="7030500" cy="25416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 sz="1650">
                <a:solidFill>
                  <a:srgbClr val="273239"/>
                </a:solidFill>
                <a:highlight>
                  <a:srgbClr val="FFFFFF"/>
                </a:highlight>
              </a:rPr>
              <a:t>Telnet is a client/server application Protocol that allows remote access to virtual terminals via local area networks or the internet. Telnet's use has decreased due to security concerns, with protocols such as SSH chosen for safe remote management. Telnet is still useful for remote administration, network diagnostics, instructional purposes, and interacting with legacy systems.</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0"/>
          <p:cNvSpPr txBox="1">
            <a:spLocks noGrp="1"/>
          </p:cNvSpPr>
          <p:nvPr>
            <p:ph type="body" idx="1"/>
          </p:nvPr>
        </p:nvSpPr>
        <p:spPr>
          <a:xfrm>
            <a:off x="1303800" y="504275"/>
            <a:ext cx="7030500" cy="4027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ctr" rtl="0">
              <a:spcBef>
                <a:spcPts val="1200"/>
              </a:spcBef>
              <a:spcAft>
                <a:spcPts val="1200"/>
              </a:spcAft>
              <a:buNone/>
            </a:pPr>
            <a:r>
              <a:rPr lang="en" sz="2900"/>
              <a:t>Thank You</a:t>
            </a:r>
            <a:endParaRPr sz="29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946</Words>
  <Application>Microsoft Office PowerPoint</Application>
  <PresentationFormat>On-screen Show (16:9)</PresentationFormat>
  <Paragraphs>107</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Maven Pro</vt:lpstr>
      <vt:lpstr>Nunito</vt:lpstr>
      <vt:lpstr>Arial</vt:lpstr>
      <vt:lpstr>Momentum</vt:lpstr>
      <vt:lpstr>TELNET</vt:lpstr>
      <vt:lpstr>What is TELNET? </vt:lpstr>
      <vt:lpstr>Telnet: Origins, Use, and Replacement</vt:lpstr>
      <vt:lpstr>Technical Details of TELNET</vt:lpstr>
      <vt:lpstr>Logging in TELNET </vt:lpstr>
      <vt:lpstr> Local login</vt:lpstr>
      <vt:lpstr>Procedure of Local Login</vt:lpstr>
      <vt:lpstr>Remote Login</vt:lpstr>
      <vt:lpstr>Procedure of Remote Login</vt:lpstr>
      <vt:lpstr>Network Virtual Terminal(NVT) </vt:lpstr>
      <vt:lpstr>Network Virtual Terminal(NVT) in TELNET </vt:lpstr>
      <vt:lpstr>How TELNET Works? </vt:lpstr>
      <vt:lpstr>Uses of TELNET </vt:lpstr>
      <vt:lpstr>Advantages of TELNET</vt:lpstr>
      <vt:lpstr>Disadvantages of TELNET</vt:lpstr>
      <vt:lpstr>Modes of Operation </vt:lpstr>
      <vt:lpstr>Modes of Operation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Sukdeb Mondal</cp:lastModifiedBy>
  <cp:revision>3</cp:revision>
  <dcterms:modified xsi:type="dcterms:W3CDTF">2025-09-20T14:20:21Z</dcterms:modified>
</cp:coreProperties>
</file>
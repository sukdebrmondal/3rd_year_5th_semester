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9" r:id="rId5"/>
    <p:sldId id="259" r:id="rId6"/>
    <p:sldId id="261" r:id="rId7"/>
    <p:sldId id="262" r:id="rId8"/>
    <p:sldId id="264" r:id="rId9"/>
    <p:sldId id="266" r:id="rId10"/>
    <p:sldId id="265" r:id="rId11"/>
    <p:sldId id="268" r:id="rId12"/>
    <p:sldId id="267" r:id="rId13"/>
    <p:sldId id="270" r:id="rId14"/>
    <p:sldId id="269" r:id="rId15"/>
    <p:sldId id="272" r:id="rId16"/>
    <p:sldId id="263" r:id="rId17"/>
    <p:sldId id="273" r:id="rId18"/>
    <p:sldId id="271" r:id="rId19"/>
    <p:sldId id="274" r:id="rId20"/>
    <p:sldId id="275" r:id="rId21"/>
    <p:sldId id="280" r:id="rId22"/>
    <p:sldId id="276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F4A9A2-A97C-4EAD-B588-E8D08E789C09}" v="19" dt="2025-09-15T05:03:24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9T18:48:23.298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9T18:48:27.663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1177 1,'45'6,"-10"3,416 80,-23-8,1033 148,23-97,-652-142,-8-62,1242-38,-1729 111,489-12,-798 11,36-3,-61 3,0 0,1-1,-1 1,0-1,0 0,0 0,0 0,0 0,0-1,0 1,0-1,0 0,-1 0,4-2,-6 3,0 1,1-1,-1 1,0-1,0 1,1-1,-1 1,0-1,0 0,0 1,0-1,0 1,0-1,0 1,0-1,0 0,0 1,0-1,0 1,0-1,0 1,-1-1,1 1,0-1,0 1,-1-1,1 1,0-1,-1 1,1-1,0 1,-1-1,1 1,-1 0,1-1,-1 1,1 0,-1-1,1 1,-1 0,1 0,-1 0,1-1,-2 1,-39-15,-123-13,-217-15,-222-10,-149 3,-3903 48,3140 155,1396-138,-607 65,670-77,26-2,-1 1,-38 8,-170 31,23-6,71-7,-189 43,333-71,0 0,0 0,-1 1,1-1,0 1,0-1,0 1,-1-1,1 1,0-1,0 1,0 0,0 0,0 0,0 0,-1 1,2-1,0 0,-1-1,1 1,0-1,0 1,0-1,0 1,0 0,0-1,1 1,-1-1,0 1,0-1,0 1,0-1,1 1,-1-1,0 1,1-1,-1 1,0-1,1 1,-1-1,0 0,1 1,0 0,4 3,0-1,1 1,0-1,-1 1,13 3,39 12,0-2,80 12,129 13,103-4,53-15,0-19,0-18,-1-18,-2-19,812-209,-907 181,552-64,-858 140,-40 4,-866 137,745-112,-56 10,-553 104,450-54,214-56,-2-5,-117 19,174-40,-24 3,-1 2,-81 25,-23 19,153-46,30-4,25-5,84-16,-76 10,202-34,3272-331,-2811 341,-556 17,-160 15,0 1,0-1,-1 0,1 0,0 0,0 0,0 0,0-1,0 1,0 0,-1 0,1-1,0 1,0 0,0-1,0 1,-1 0,1-1,0 0,-1 1,1-1,0 1,-1-1,1 0,0-1,-19-7,-39-4,31 8,2-1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9T18:48:30.146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4173 1,'-44'0,"-68"9,37 0,-310 38,-2243 329,2374-335,-375 39,583-83,47 3,-1 0,0 0,0 0,0 0,0 0,0 0,1 0,-1 0,0 0,0 0,0 0,0 0,0 0,1 0,-1 0,0 0,0 0,0 0,0 0,0 0,0 0,1-1,-1 1,0 0,0 0,0 0,0 0,0 0,0 0,0 0,0 0,1 0,-1-1,0 1,0 0,0 0,0 0,0 0,0 0,0-1,0 1,0 0,0 0,0 0,0 0,0 0,0 0,0-1,0 1,0 0,0 0,0 0,0 0,0 0,0-1,0 1,0 0,0 0,0 0,-1 0,1 0,0 0,0 0,0-1,0 1,0 0,0 0,0 0,-1 0,36-7,228-18,-88 12,333-32,-231 20,2041-219,-2269 237,195-32,-215 29,-50 6,-47 5,68-1,-44 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9T18:48:34.703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5205 200,'-647'13,"62"-1,178 13,-56-2,433-28,30 5,0 0,0 0,-1 0,1 0,0 0,0 0,0 0,-1 0,1 0,0 0,0 0,0 0,0 0,-1-1,1 1,0 0,0 0,0 0,0 0,0 0,0-1,-1 1,1 0,0 0,0 0,0 0,0-1,0 1,0 0,0 0,0 0,0 0,0-1,0 1,0 0,0 0,0 0,0-1,0 1,0 0,0 0,0 0,0-1,0 1,0 0,0 0,21-10,67-9,520-49,-537 62,2513-152,-2565 158,29-1,-46 2,-8 2,-32 5,-593 104,23 2,-836 169,-547 103,1839-357,-297 40,426-68,37-3,278-16,137-13,198-23,819-89,18-52,-1379 182,-39 7,0-2,58-19,-93 21,-21 3,-32 0,0 2,-54 5,38-1,-1270 98,448-27,749-68,269-9,386 19,-35-1,2347 27,-2799-43,-23 1,-44 2,-429 48,408-44,-488 72,-126 28,-1084 219,18 88,1375-308,288-81,51-15,31-7,40-9,221-25,17 8,117-9,97-9,1131-77,1097-97,-2675 211,-84 10,-47 7,-1075 245,499-105,-156 19,798-170,0 0,0-1,-1 0,1 0,0 0,-8-2,-29 0,-253 45,126-15,-135 13,-3-13,-342-14,619-15,0-2,1-1,-1-1,1-2,-53-19,63 18,-1-2,1 0,1-1,0-1,0-1,2-1,-1 0,-24-28,19 19,-1 1,-1 1,-1 1,-1 1,-1 2,-35-18,-183-69,181 79,3 0,-1 3,-67-15,97 32,0 1,0 2,-51 3,-99 17,173-16,-720 144,651-136,65-9,0 0,0 1,0 0,0 1,-14 5,-8 3,-1-2,0-1,0-2,-53 1,23-1,44-3,9 0,-1-1,0-1,0 0,0-1,0-1,0 0,-28-6,42 7,1 0,0 0,-1 0,1 0,0-1,-1 1,1 0,-1 0,1 0,0 0,-1-1,1 1,0 0,0 0,-1-1,1 1,0 0,-1 0,1-1,0 1,0 0,0-1,-1 1,1 0,0-1,0 1,0-1,0 1,0 0,0-1,-1 1,1-1,0 1,0 0,0-1,0 1,1-1,-1 1,0 0,0-1,0 1,0-1,22-18,3 5,44-20,169-58,187-48,157-31,280-44,9 37,1737-122,-2574 299,176-6,-397 34,-3861 696,3300-554,714-164,0-1,0-2,0-1,-45-5,-12 1,50 5,30-1,-1 0,0 0,1-2,-1 1,0-1,0-1,-12-3,21 3,1 1,0-1,0 0,0 1,0-1,0 0,0 0,0 0,1 0,-1-1,1 1,-1 0,1-1,0 1,0-1,0 1,0-1,0 0,1 1,-1-1,1 0,0 1,0-4,2-74,0 55,-2 15,0 0,1 0,0 0,1 1,0-1,1 0,0 1,0 0,1 0,1 0,-1 0,1 0,1 1,6-9,36-44,92-89,71-43,-134 124,305-256,-378 322,0 0,1 1,-1 0,1 0,-1 0,1 0,0 1,-1-1,1 1,0 0,0 1,7-1,66 6,-29-1,-39-4,0 1,0 0,0 1,13 3,-7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9T18:48:40.012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3437 1273,'-282'1,"-74"3,-288 5,-1059 1,1329-29,365 18,0 0,1-1,-1 0,-11-5,19 6,0 1,0 0,-1-1,1 1,0-1,0 1,0-1,0 1,0-1,0 0,0 0,0 1,0-1,0 0,1 0,-1 0,0 0,0 0,1 0,-1 0,1 0,-1 0,1-1,-1 1,1 0,0 0,-1 0,1-1,0 1,0 0,0 0,0 0,0-1,0 1,1 0,-1 0,0-1,0 1,2-2,-2 2,2-1,-1 0,0 1,0-1,0 1,1-1,-1 1,1-1,-1 1,1 0,-1 0,1 0,0 0,-1 0,1 0,3 0,43-11,-24 8,542-81,-425 67,568-64,-202 26,966-112,-7-44,-1424 204,63-9,167-49,-265 64,0 0,-1 0,1-1,-1 0,0 0,11-8,-17 11,1-1,-1 1,0 0,0-1,1 1,-1 0,0-1,0 1,0 0,1-1,-1 1,0-1,0 1,0 0,0-1,0 1,0-1,0 1,0 0,0-1,0 1,0-1,0 1,0 0,0-1,-1 1,1 0,0-1,0 1,0-1,-1 1,1 0,0-1,0 1,-1 0,1 0,0-1,0 1,-1 0,1 0,0-1,-1 1,1 0,0 0,-1 0,1 0,-1-1,1 1,0 0,-1 0,1 0,-1 0,1 0,0 0,-1 0,1 0,-1 0,-16-3,-1-1,1 2,-1 1,0 0,-26 2,7 0,-1195 87,1092-74,-934 100,-361 35,1335-142,60-9,40 2,0 0,-1 0,1 0,0 0,0 0,0 0,0 0,0 0,-1 0,1 0,0 0,0 0,0 0,0 0,0 0,0 0,-1-1,1 1,0 0,0 0,0 0,0 0,0 0,0 0,0 0,-1-1,1 1,0 0,0 0,0 0,0 0,0 0,0 0,0-1,0 1,0 0,0 0,0 0,0 0,0 0,0-1,0 1,0 0,0 0,0 0,0 0,0 0,0-1,0 1,0 0,0 0,1 0,-1 0,0 0,0 0,0-1,0 1,0 0,0 0,0 0,0 0,1 0,-1 0,27-13,123-26,206-35,191-29,2067-321,-2606 423,39-6,-44 6,-7 1,-29 1,-438 45,388-37,-476 61,-1026 159,3 69,1304-232,387-95,184-49,184-45,750-177,27 49,-1250 250,149-25,226-9,-362 35,-11-1,0 1,0-1,0 1,0 1,0-1,0 1,0 0,0 0,0 1,-1 0,7 3,-11-5,-1 0,0 0,1 0,-1 0,0 1,0-1,1 0,-1 0,0 0,0 1,1-1,-1 0,0 1,0-1,0 0,1 0,-1 1,0-1,0 0,0 1,0-1,0 0,0 1,0-1,0 0,0 1,0-1,0 0,0 1,0-1,0 0,0 1,0-1,0 0,0 1,0-1,-1 0,1 1,0-1,0 0,0 1,0-1,-1 0,1 0,0 1,0-1,-1 0,1 0,0 1,-1-1,1 0,-1 0,-21 12,-123 35,94-32,-7 1,-704 211,2 36,671-224,89-39,0 1,0-1,0 0,1 0,-1 0,0 0,0 0,0 0,1 0,-1 0,0 0,0 0,0 1,1-1,-1 0,0 0,0 0,0 0,0 0,0 1,0-1,1 0,-1 0,0 0,0 1,0-1,0 0,0 0,0 0,0 1,0-1,0 0,0 0,0 1,0-1,0 0,0 0,0 0,0 1,0-1,0 0,0 0,0 0,0 1,-1-1,1 0,0 0,0 0,0 0,0 1,0-1,0 0,-1 0,1 0,0 0,0 0,0 1,-1-1,31 2,207-5,-139 0,426-13,987-17,-1400 35,-88 4,-23-5,0-1,0 1,-1-1,1 1,0-1,0 1,0-1,-1 1,1-1,0 1,0-1,-1 0,1 1,0-1,-1 0,1 1,-1-1,1 0,0 1,-1-1,1 0,-1 0,1 1,-1-1,1 0,-1 0,0 0,-67 24,63-22,-210 62,-128 34,-901 287,28 105,1178-472,-44 22,77-37,0 0,0 0,0 1,0 0,0-1,1 1,0 1,0-1,0 1,-3 4,6-8,1-1,0 1,0-1,0 1,-1-1,1 1,0-1,0 1,0-1,0 1,0-1,0 1,0-1,0 1,0-1,0 1,0-1,0 1,0-1,0 1,0-1,1 1,-1-1,0 1,0-1,1 0,-1 1,0-1,1 1,-1-1,1 1,27 10,6-8,0-1,62-4,251-27,1555-263,-1468 209,-381 68,-97 22,-1167 279,1182-277,35-9,56-13,812-209,-814 204,-44 11,-15 3,-29 2,-78 10,-138 30,122-17,22-6,-290 58,376-68,19-5,37-5,845-186,-618 126,45-11,-244 54,-59 14,-22 4,-38 2,-723 101,535-61,158-26,-308 38,379-49,3-1,1 1,-1-1,0 0,1 0,-1 0,1 0,-1-1,-8-2,3-4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51313-833C-AC4D-78CA-EB8102FBC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37318-813F-3522-BA09-B43CC439E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874B-FF3E-B1DC-EF5B-2900D4FBC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D040B-2E5F-9CA1-0E0E-CB781907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FAF27-1B1E-E2A9-6602-C04A5B84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34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939BC-8ECC-DFC1-CAF6-BD958D02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1916F-58A6-E0B6-DD89-4DEFA83C1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8D26C-9BB8-7D6C-F7CE-B778ED1E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EF9F9-ED01-046C-8DC8-19889CF5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9774F-9548-472F-049F-E8667C53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58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8653-CC30-1D44-476C-E9B9852D9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ADB45-D537-B002-C41B-9DE1CE14D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CFD40-BFB4-127B-B6E7-C0C8BB05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A5B63-FBCA-4955-92E6-A0C78CE8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C85F6-0051-0996-A3D4-AEC55F95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456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1F607-1A4E-776A-8A7B-2A5C023D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E13B2-8A5F-14F3-657B-69E1E21B1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BB27D-2F88-1C7B-94D1-8404CDB04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BB2E-131A-0BFA-CE07-9B9F71C76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CFAC6-148E-C0EC-11D7-C97DB1C9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8312E-890A-3B84-8C0E-5041E8A14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950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411B-5E32-3777-0F12-15BE2311C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8B763-4F5B-FDD8-1143-896D07C13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38FAD-B8F6-16C5-4337-0D5D24325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5A02A-6BF6-542D-79BE-A5A221754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CAC251-5DC9-BE45-3BEF-386311EEB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BF9D40-A4EF-F258-37C9-83842783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2C9CAC-30CD-E2B2-45E3-89BD19F9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224E9-1288-9121-FB26-535F75D2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35A7-1C09-38D9-B5D4-83DBCE24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C62EC-5C56-1B48-0974-4D950958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CF19C-3B0B-22F6-5EAC-E6846CDD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250D1-93F9-E858-BA15-0A78C05E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87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F81AF1-223D-BD85-289F-B2FFC31BA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15799-16B3-B441-1BFF-19324FE1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4AF71-2A00-CA57-8E51-039DC6C75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66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5945F-2721-E85B-F6EE-735D8173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D3E62-9CAF-6EA9-457D-0494D1962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6ADC4-BAD2-1162-CFA3-EAF14B5C9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C95E0-1043-B138-9E92-26D3191C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1511E-F2CE-B3DB-A43F-CDFA176A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73FE2-CA94-C962-A183-885EB90D6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387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065CC-5BD3-BDCE-A418-EDCDBC698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3C410-52B4-8534-D00E-CD1EA965A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0AEB4-2D09-1E72-34F6-D4B20D59A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AFF05-9BBC-9E14-9D42-7C82EEE2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2BA6F-52C6-2767-665D-68179943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AE0BD-421D-C746-8A3A-4A4FB4538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51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E7E8-F9F2-E122-20F9-7D9B19E9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901F4-A54E-B9E2-F43E-2600EC66C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9F55C-97C1-8A4C-29FB-0AD40F6D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3BD06-37A5-5098-18F9-6BF254C1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9E819-20C0-5BC4-1F20-1830156B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11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AE0AC7-18F1-DB34-CB96-7FD6AFA3F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F3A99-C0FC-1C0A-7B6A-43D702D72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62C12-DBAA-2353-2DD6-B8646D74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47164-70DC-D65D-6867-E6AA4510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E2438-ABD3-C8D1-6CA9-CC18B003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55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1CFF5C-6232-ED05-7158-4681BF5F4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0F969-2352-A07A-2436-8482E1A76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C99A0-81EC-08C7-9E1B-8065DA923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B61E0-99CE-4267-93B2-6B54FCB1A6D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72562-7874-A829-7514-B966A06F4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673AE-FEEC-4EB4-E3F3-3A827595A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5A53D-2C5E-41EF-BE7D-172B6C06A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121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C96438-C228-924C-A8CD-916B005235F9}"/>
              </a:ext>
            </a:extLst>
          </p:cNvPr>
          <p:cNvSpPr txBox="1"/>
          <p:nvPr/>
        </p:nvSpPr>
        <p:spPr>
          <a:xfrm>
            <a:off x="1130061" y="2527062"/>
            <a:ext cx="896284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/>
              <a:t>		</a:t>
            </a:r>
            <a:r>
              <a:rPr lang="en-IN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Client Server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6C787-1858-6470-E348-180F037E1093}"/>
              </a:ext>
            </a:extLst>
          </p:cNvPr>
          <p:cNvSpPr txBox="1"/>
          <p:nvPr/>
        </p:nvSpPr>
        <p:spPr>
          <a:xfrm>
            <a:off x="6754484" y="4451230"/>
            <a:ext cx="36921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Name – Ayan Das </a:t>
            </a:r>
          </a:p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Roll - 311</a:t>
            </a:r>
          </a:p>
        </p:txBody>
      </p:sp>
    </p:spTree>
    <p:extLst>
      <p:ext uri="{BB962C8B-B14F-4D97-AF65-F5344CB8AC3E}">
        <p14:creationId xmlns:p14="http://schemas.microsoft.com/office/powerpoint/2010/main" val="1197532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D574B9-507F-85D4-DD99-80AFACF7F63B}"/>
              </a:ext>
            </a:extLst>
          </p:cNvPr>
          <p:cNvSpPr txBox="1"/>
          <p:nvPr/>
        </p:nvSpPr>
        <p:spPr>
          <a:xfrm>
            <a:off x="255036" y="363894"/>
            <a:ext cx="11681927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i="1" dirty="0"/>
          </a:p>
          <a:p>
            <a:endParaRPr lang="en-IN" b="1" i="1" dirty="0"/>
          </a:p>
          <a:p>
            <a:endParaRPr lang="en-IN" b="1" i="1" dirty="0"/>
          </a:p>
          <a:p>
            <a:endParaRPr lang="en-IN" b="1" i="1" dirty="0"/>
          </a:p>
          <a:p>
            <a:r>
              <a:rPr lang="en-IN" b="1" i="1" dirty="0"/>
              <a:t>Client Server Computing </a:t>
            </a:r>
            <a:r>
              <a:rPr lang="en-IN" dirty="0"/>
              <a:t>: </a:t>
            </a:r>
            <a:r>
              <a:rPr lang="en-US" dirty="0"/>
              <a:t>Client–Server Computing is a computing model where tasks or workloads are divided 			between two types of machines one is called Client and another one is called Server.</a:t>
            </a:r>
            <a:endParaRPr lang="en-IN" dirty="0"/>
          </a:p>
          <a:p>
            <a:endParaRPr lang="en-IN" dirty="0"/>
          </a:p>
          <a:p>
            <a:pPr fontAlgn="base"/>
            <a:r>
              <a:rPr lang="en-US" b="1" dirty="0"/>
              <a:t>Client:  </a:t>
            </a:r>
            <a:r>
              <a:rPr lang="en-US" dirty="0"/>
              <a:t>A client is any device or software that initiates communication by requesting data or services from a server.         	Common client applications include:</a:t>
            </a:r>
          </a:p>
          <a:p>
            <a:pPr fontAlgn="base"/>
            <a:r>
              <a:rPr lang="en-US" dirty="0"/>
              <a:t>	Web browsers (e.g., Chrome, Firefox)</a:t>
            </a:r>
          </a:p>
          <a:p>
            <a:pPr fontAlgn="base"/>
            <a:r>
              <a:rPr lang="en-US" dirty="0"/>
              <a:t>	Email apps (e.g., Gmail, Outlook)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Server: </a:t>
            </a:r>
            <a:r>
              <a:rPr lang="en-US" dirty="0"/>
              <a:t>A server is a powerful systems that listens for and responds to client requests by delivering data or performing   	tasks. Servers often handle multiple simultaneous client requests. Common server applications include:</a:t>
            </a:r>
          </a:p>
          <a:p>
            <a:pPr fontAlgn="base"/>
            <a:r>
              <a:rPr lang="en-US" dirty="0"/>
              <a:t>	Web Servers (e.g., Apache, Nginx)</a:t>
            </a:r>
          </a:p>
          <a:p>
            <a:pPr fontAlgn="base"/>
            <a:r>
              <a:rPr lang="en-US" dirty="0"/>
              <a:t>	Email Servers</a:t>
            </a:r>
          </a:p>
          <a:p>
            <a:pPr fontAlgn="base"/>
            <a:r>
              <a:rPr lang="en-US" dirty="0"/>
              <a:t>	Database servers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624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E0462F-B0CE-32B3-8364-5C4F25A0BE66}"/>
              </a:ext>
            </a:extLst>
          </p:cNvPr>
          <p:cNvSpPr txBox="1"/>
          <p:nvPr/>
        </p:nvSpPr>
        <p:spPr>
          <a:xfrm>
            <a:off x="625151" y="195943"/>
            <a:ext cx="10291665" cy="904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Types of Clients:</a:t>
            </a:r>
          </a:p>
          <a:p>
            <a:r>
              <a:rPr lang="en-US" b="1" dirty="0"/>
              <a:t>Thin Client</a:t>
            </a:r>
            <a:r>
              <a:rPr lang="en-US" dirty="0"/>
              <a:t> </a:t>
            </a:r>
            <a:r>
              <a:rPr lang="en-US" sz="2400" dirty="0"/>
              <a:t>– </a:t>
            </a:r>
            <a:r>
              <a:rPr lang="en-US" dirty="0"/>
              <a:t>Minimal processing power; depends mostly on the server (e.g., web browser).</a:t>
            </a:r>
          </a:p>
          <a:p>
            <a:r>
              <a:rPr lang="en-US" b="1" dirty="0"/>
              <a:t>Thick Client (Fat Client)</a:t>
            </a:r>
            <a:r>
              <a:rPr lang="en-US" dirty="0"/>
              <a:t> – Has its own processing power and does part of the work locally (e.g., installed desktop applications like MS Word with online sync).</a:t>
            </a:r>
          </a:p>
          <a:p>
            <a:endParaRPr lang="en-US" dirty="0"/>
          </a:p>
          <a:p>
            <a:r>
              <a:rPr lang="en-US" sz="2400" b="1" dirty="0"/>
              <a:t>Types of Servers:</a:t>
            </a:r>
          </a:p>
          <a:p>
            <a:endParaRPr lang="en-US" dirty="0"/>
          </a:p>
          <a:p>
            <a:r>
              <a:rPr lang="en-US" b="1" dirty="0"/>
              <a:t>File Server</a:t>
            </a:r>
            <a:r>
              <a:rPr lang="en-US" dirty="0"/>
              <a:t> – Stores and manages files.</a:t>
            </a:r>
          </a:p>
          <a:p>
            <a:r>
              <a:rPr lang="en-US" b="1" dirty="0"/>
              <a:t>Database Server</a:t>
            </a:r>
            <a:r>
              <a:rPr lang="en-US" dirty="0"/>
              <a:t> – Provides database services and query handling.</a:t>
            </a:r>
          </a:p>
          <a:p>
            <a:r>
              <a:rPr lang="en-US" b="1" dirty="0"/>
              <a:t>Web Server</a:t>
            </a:r>
            <a:r>
              <a:rPr lang="en-US" dirty="0"/>
              <a:t> – Hosts websites and web applications.</a:t>
            </a:r>
          </a:p>
          <a:p>
            <a:r>
              <a:rPr lang="en-US" b="1" dirty="0"/>
              <a:t>Application Server</a:t>
            </a:r>
            <a:r>
              <a:rPr lang="en-US" dirty="0"/>
              <a:t> – Runs application logic and provides business services.</a:t>
            </a:r>
          </a:p>
          <a:p>
            <a:r>
              <a:rPr lang="en-US" b="1" dirty="0"/>
              <a:t>Mail Server</a:t>
            </a:r>
            <a:r>
              <a:rPr lang="en-US" dirty="0"/>
              <a:t> – Handles sending and receiving emails.</a:t>
            </a:r>
          </a:p>
          <a:p>
            <a:r>
              <a:rPr lang="en-US" b="1" dirty="0"/>
              <a:t>Proxy Server</a:t>
            </a:r>
            <a:r>
              <a:rPr lang="en-US" dirty="0"/>
              <a:t> – Acts as an intermediary for requests, often for security/caching.</a:t>
            </a:r>
          </a:p>
          <a:p>
            <a:endParaRPr lang="en-US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02329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3259-FF36-67C9-F9EB-AA209712E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Special Types of Clients and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554D-283C-3CDA-8339-77208C100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🔹 Special Types of Clients</a:t>
            </a:r>
          </a:p>
          <a:p>
            <a:r>
              <a:rPr lang="en-US" sz="2400" b="1" dirty="0"/>
              <a:t>Daytime Client</a:t>
            </a:r>
            <a:r>
              <a:rPr lang="en-US" sz="2400" dirty="0"/>
              <a:t> – Connects to a server to get the current date and time.</a:t>
            </a:r>
          </a:p>
          <a:p>
            <a:r>
              <a:rPr lang="en-US" sz="2400" b="1" dirty="0"/>
              <a:t>Echo Client</a:t>
            </a:r>
            <a:r>
              <a:rPr lang="en-US" sz="2400" dirty="0"/>
              <a:t> – Sends a message to the server and gets the exact same message back.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🔹 Special Types of Servers</a:t>
            </a:r>
          </a:p>
          <a:p>
            <a:r>
              <a:rPr lang="en-US" sz="2400" b="1" dirty="0"/>
              <a:t>Iterative Server</a:t>
            </a:r>
            <a:r>
              <a:rPr lang="en-US" sz="2400" dirty="0"/>
              <a:t> – Handles </a:t>
            </a:r>
            <a:r>
              <a:rPr lang="en-US" sz="2400" b="1" dirty="0"/>
              <a:t>one client at a time</a:t>
            </a:r>
            <a:r>
              <a:rPr lang="en-US" sz="2400" dirty="0"/>
              <a:t>; after finishing, it moves to the next.</a:t>
            </a:r>
          </a:p>
          <a:p>
            <a:r>
              <a:rPr lang="en-US" sz="2400" b="1" dirty="0"/>
              <a:t>Concurrent Server</a:t>
            </a:r>
            <a:r>
              <a:rPr lang="en-US" sz="2400" dirty="0"/>
              <a:t> – Can handle </a:t>
            </a:r>
            <a:r>
              <a:rPr lang="en-US" sz="2400" b="1" dirty="0"/>
              <a:t>multiple clients at the same time</a:t>
            </a:r>
            <a:r>
              <a:rPr lang="en-US" sz="2400" dirty="0"/>
              <a:t>, usually by creating new processes or threads.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50595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6C13B-E0BB-3DB2-1FD1-36DEF9385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410547"/>
            <a:ext cx="10681996" cy="1959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Client Server Model  : </a:t>
            </a:r>
            <a:r>
              <a:rPr lang="en-US" sz="2400" dirty="0"/>
              <a:t>The Client-Server Model is a distributed architecture where clients request services and servers provide them. It underpins many modern systems, including websites, email, and cloud storage platforms.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68C02-4168-BC03-D0B0-142328EFA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468" y="1042655"/>
            <a:ext cx="8345065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5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AF10-889A-09E7-7249-27FDB0952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0596"/>
          </a:xfrm>
        </p:spPr>
        <p:txBody>
          <a:bodyPr/>
          <a:lstStyle/>
          <a:p>
            <a:r>
              <a:rPr lang="en-IN" dirty="0"/>
              <a:t>				</a:t>
            </a:r>
            <a:r>
              <a:rPr lang="en-IN" b="1" dirty="0"/>
              <a:t>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709A7-6521-7822-0DBB-B802108A2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49" y="1345722"/>
            <a:ext cx="10749951" cy="4831241"/>
          </a:xfrm>
        </p:spPr>
        <p:txBody>
          <a:bodyPr/>
          <a:lstStyle/>
          <a:p>
            <a:r>
              <a:rPr lang="en-IN" b="1" dirty="0"/>
              <a:t>What is Socket ?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sz="2400" dirty="0"/>
              <a:t>Socket is an end point of a two way communication between</a:t>
            </a:r>
          </a:p>
          <a:p>
            <a:pPr marL="0" indent="0">
              <a:buNone/>
            </a:pPr>
            <a:r>
              <a:rPr lang="en-IN" sz="2400" dirty="0"/>
              <a:t>    programs running on a network.</a:t>
            </a:r>
          </a:p>
          <a:p>
            <a:pPr marL="0" indent="0">
              <a:buNone/>
            </a:pPr>
            <a:r>
              <a:rPr lang="en-IN" b="1" dirty="0"/>
              <a:t>How Socket works? 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Picture 4" descr="A diagram of a connection&#10;&#10;AI-generated content may be incorrect.">
            <a:extLst>
              <a:ext uri="{FF2B5EF4-FFF2-40B4-BE49-F238E27FC236}">
                <a16:creationId xmlns:a16="http://schemas.microsoft.com/office/drawing/2014/main" id="{E9E97C11-8FF1-AD92-E908-EE6CE8A58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381" y="3252160"/>
            <a:ext cx="7956996" cy="304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80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2791-6F87-5526-E986-175088A78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8618"/>
          </a:xfrm>
        </p:spPr>
        <p:txBody>
          <a:bodyPr/>
          <a:lstStyle/>
          <a:p>
            <a:r>
              <a:rPr lang="en-IN" dirty="0"/>
              <a:t>			   Socket Address</a:t>
            </a:r>
          </a:p>
        </p:txBody>
      </p:sp>
      <p:pic>
        <p:nvPicPr>
          <p:cNvPr id="5" name="Content Placeholder 4" descr="A diagram of a number and a socket&#10;&#10;AI-generated content may be incorrect.">
            <a:extLst>
              <a:ext uri="{FF2B5EF4-FFF2-40B4-BE49-F238E27FC236}">
                <a16:creationId xmlns:a16="http://schemas.microsoft.com/office/drawing/2014/main" id="{EC32F624-68DE-8733-79D3-3E30770B2C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076" y="1670189"/>
            <a:ext cx="7819093" cy="4237907"/>
          </a:xfrm>
        </p:spPr>
      </p:pic>
    </p:spTree>
    <p:extLst>
      <p:ext uri="{BB962C8B-B14F-4D97-AF65-F5344CB8AC3E}">
        <p14:creationId xmlns:p14="http://schemas.microsoft.com/office/powerpoint/2010/main" val="1696089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726A-32C8-1BAB-EFF5-2389FCE45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792" y="293298"/>
            <a:ext cx="11095008" cy="588366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How to identify process using Socket?</a:t>
            </a:r>
          </a:p>
        </p:txBody>
      </p:sp>
      <p:pic>
        <p:nvPicPr>
          <p:cNvPr id="5" name="Picture 4" descr="A diagram of a service request&#10;&#10;AI-generated content may be incorrect.">
            <a:extLst>
              <a:ext uri="{FF2B5EF4-FFF2-40B4-BE49-F238E27FC236}">
                <a16:creationId xmlns:a16="http://schemas.microsoft.com/office/drawing/2014/main" id="{83E138FD-C4EB-248A-14D1-3F83DFECD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58" y="1710769"/>
            <a:ext cx="8773749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8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FA487-1E48-D0C4-6685-B1CB2C7C5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672" y="198407"/>
            <a:ext cx="11069129" cy="6495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Types of Socket</a:t>
            </a:r>
          </a:p>
          <a:p>
            <a:pPr marL="0" indent="0">
              <a:buNone/>
            </a:pPr>
            <a:r>
              <a:rPr lang="en-IN" sz="2400" dirty="0"/>
              <a:t>1.Stream Socket</a:t>
            </a:r>
          </a:p>
          <a:p>
            <a:pPr marL="0" indent="0">
              <a:buNone/>
            </a:pPr>
            <a:r>
              <a:rPr lang="en-IN" sz="2400" dirty="0"/>
              <a:t>2.Datagram Socket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Characteristic of Stream Socket</a:t>
            </a:r>
          </a:p>
          <a:p>
            <a:pPr marL="0" indent="0">
              <a:buNone/>
            </a:pPr>
            <a:r>
              <a:rPr lang="en-IN" sz="2400" dirty="0"/>
              <a:t>    Reliable &amp; Error free Service</a:t>
            </a:r>
          </a:p>
          <a:p>
            <a:pPr marL="0" indent="0">
              <a:buNone/>
            </a:pPr>
            <a:r>
              <a:rPr lang="en-IN" sz="2400" dirty="0"/>
              <a:t>    Sequential Packet delivered</a:t>
            </a:r>
          </a:p>
          <a:p>
            <a:pPr marL="0" indent="0">
              <a:buNone/>
            </a:pPr>
            <a:r>
              <a:rPr lang="en-IN" sz="2400" b="1" dirty="0"/>
              <a:t>Characteristic of Datagram Socket</a:t>
            </a:r>
          </a:p>
          <a:p>
            <a:pPr marL="0" indent="0">
              <a:buNone/>
            </a:pPr>
            <a:r>
              <a:rPr lang="en-IN" sz="2400" dirty="0"/>
              <a:t>    Unreliable &amp; best effort service</a:t>
            </a:r>
          </a:p>
          <a:p>
            <a:pPr marL="0" indent="0">
              <a:buNone/>
            </a:pPr>
            <a:r>
              <a:rPr lang="en-IN" sz="2400" dirty="0"/>
              <a:t>    Datagram may arrive out of order</a:t>
            </a:r>
          </a:p>
          <a:p>
            <a:pPr marL="0" indent="0">
              <a:buNone/>
            </a:pPr>
            <a:r>
              <a:rPr lang="en-IN" sz="2400" b="1" dirty="0"/>
              <a:t>Application of Stream Socket</a:t>
            </a:r>
          </a:p>
          <a:p>
            <a:pPr marL="0" indent="0">
              <a:buNone/>
            </a:pPr>
            <a:r>
              <a:rPr lang="en-IN" sz="2400" dirty="0"/>
              <a:t>     Telnet/SSH,HTTP,HTTPS</a:t>
            </a:r>
          </a:p>
          <a:p>
            <a:pPr marL="0" indent="0">
              <a:buNone/>
            </a:pPr>
            <a:r>
              <a:rPr lang="en-IN" sz="2400" b="1" dirty="0"/>
              <a:t>Application of Datagram Socket</a:t>
            </a:r>
          </a:p>
          <a:p>
            <a:pPr marL="0" indent="0">
              <a:buNone/>
            </a:pPr>
            <a:r>
              <a:rPr lang="en-IN" sz="2400" dirty="0"/>
              <a:t>      Live streaming audio/video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84879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DFD31-2363-0ED4-4967-E3A1E0BC0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45" y="154546"/>
            <a:ext cx="11809927" cy="641367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What is Socket Programming?</a:t>
            </a:r>
          </a:p>
          <a:p>
            <a:pPr marL="0" indent="0">
              <a:buNone/>
            </a:pPr>
            <a:r>
              <a:rPr lang="en-IN" dirty="0"/>
              <a:t>Socket programming is a way of connecting two nodes on a network to communicate with each other.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Which Functions are used for Socket Programming?</a:t>
            </a:r>
          </a:p>
          <a:p>
            <a:pPr marL="0" indent="0">
              <a:buNone/>
            </a:pPr>
            <a:r>
              <a:rPr lang="en-IN" dirty="0"/>
              <a:t>socket()</a:t>
            </a:r>
          </a:p>
          <a:p>
            <a:pPr marL="0" indent="0">
              <a:buNone/>
            </a:pPr>
            <a:r>
              <a:rPr lang="en-IN" dirty="0"/>
              <a:t>bind()</a:t>
            </a:r>
          </a:p>
          <a:p>
            <a:pPr marL="0" indent="0">
              <a:buNone/>
            </a:pPr>
            <a:r>
              <a:rPr lang="en-IN" dirty="0"/>
              <a:t>listen()</a:t>
            </a:r>
          </a:p>
          <a:p>
            <a:pPr marL="0" indent="0">
              <a:buNone/>
            </a:pPr>
            <a:r>
              <a:rPr lang="en-IN" dirty="0"/>
              <a:t>connect()</a:t>
            </a:r>
          </a:p>
          <a:p>
            <a:pPr marL="0" indent="0">
              <a:buNone/>
            </a:pPr>
            <a:r>
              <a:rPr lang="en-IN" dirty="0"/>
              <a:t>accept()</a:t>
            </a:r>
          </a:p>
          <a:p>
            <a:pPr marL="0" indent="0">
              <a:buNone/>
            </a:pPr>
            <a:r>
              <a:rPr lang="en-IN" dirty="0"/>
              <a:t>send()/</a:t>
            </a:r>
            <a:r>
              <a:rPr lang="en-IN" dirty="0" err="1"/>
              <a:t>recv</a:t>
            </a:r>
            <a:r>
              <a:rPr lang="en-IN" dirty="0"/>
              <a:t>()/read()/write()/</a:t>
            </a:r>
            <a:r>
              <a:rPr lang="en-IN" dirty="0" err="1"/>
              <a:t>sendto</a:t>
            </a:r>
            <a:r>
              <a:rPr lang="en-IN" dirty="0"/>
              <a:t>()/</a:t>
            </a:r>
            <a:r>
              <a:rPr lang="en-IN" dirty="0" err="1"/>
              <a:t>recvform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close()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478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screen shot of a function&#10;&#10;AI-generated content may be incorrect.">
            <a:extLst>
              <a:ext uri="{FF2B5EF4-FFF2-40B4-BE49-F238E27FC236}">
                <a16:creationId xmlns:a16="http://schemas.microsoft.com/office/drawing/2014/main" id="{77EDF3E7-73FD-214C-E491-BA8937527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69" y="120012"/>
            <a:ext cx="9193524" cy="6531614"/>
          </a:xfrm>
        </p:spPr>
      </p:pic>
    </p:spTree>
    <p:extLst>
      <p:ext uri="{BB962C8B-B14F-4D97-AF65-F5344CB8AC3E}">
        <p14:creationId xmlns:p14="http://schemas.microsoft.com/office/powerpoint/2010/main" val="2031511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00E880-3BCB-59D8-67ED-4E8E09475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35" r="-1"/>
          <a:stretch>
            <a:fillRect/>
          </a:stretch>
        </p:blipFill>
        <p:spPr>
          <a:xfrm>
            <a:off x="2415395" y="704466"/>
            <a:ext cx="7607870" cy="5758660"/>
          </a:xfrm>
        </p:spPr>
      </p:pic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EF9E26D-DCA1-6490-E941-9B1DB499D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614" y="5812790"/>
            <a:ext cx="6237738" cy="85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75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489C0E-29FA-63DD-AE7D-C29015A1F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5"/>
          <a:stretch>
            <a:fillRect/>
          </a:stretch>
        </p:blipFill>
        <p:spPr>
          <a:xfrm>
            <a:off x="2242868" y="805724"/>
            <a:ext cx="7847162" cy="52465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EEDB3C-967B-0E3D-86DF-F5F38D8349B5}"/>
              </a:ext>
            </a:extLst>
          </p:cNvPr>
          <p:cNvSpPr/>
          <p:nvPr/>
        </p:nvSpPr>
        <p:spPr>
          <a:xfrm>
            <a:off x="10360325" y="6116128"/>
            <a:ext cx="595222" cy="439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73238769-DDF9-E021-550A-C24415AD6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976" y="3709357"/>
            <a:ext cx="9388942" cy="284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14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625D1C7-DAAD-C6DD-EFB1-8748C310E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219" y="284163"/>
            <a:ext cx="8290324" cy="6323012"/>
          </a:xfrm>
        </p:spPr>
      </p:pic>
      <p:pic>
        <p:nvPicPr>
          <p:cNvPr id="3" name="Picture 2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5B1ECE90-DDA6-2F3F-921E-6FBA195C1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456" y="4432236"/>
            <a:ext cx="8075437" cy="216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48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10BF3CE-70EB-FA11-EC01-26E411171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550" y="276225"/>
            <a:ext cx="9216475" cy="6288088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F4B0F3-D5F5-5AA6-F45B-6A2C322F65CF}"/>
              </a:ext>
            </a:extLst>
          </p:cNvPr>
          <p:cNvSpPr/>
          <p:nvPr/>
        </p:nvSpPr>
        <p:spPr>
          <a:xfrm>
            <a:off x="1337094" y="4451230"/>
            <a:ext cx="9497683" cy="22256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B0A32-A456-D9D8-5F24-9A8150CC6495}"/>
              </a:ext>
            </a:extLst>
          </p:cNvPr>
          <p:cNvSpPr txBox="1"/>
          <p:nvPr/>
        </p:nvSpPr>
        <p:spPr>
          <a:xfrm>
            <a:off x="1147312" y="4339087"/>
            <a:ext cx="102395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    </a:t>
            </a:r>
            <a:r>
              <a:rPr lang="en-IN" b="1" dirty="0"/>
              <a:t>Example:</a:t>
            </a:r>
          </a:p>
          <a:p>
            <a:r>
              <a:rPr lang="en-IN" dirty="0"/>
              <a:t>	import socket</a:t>
            </a:r>
          </a:p>
          <a:p>
            <a:r>
              <a:rPr lang="en-IN" dirty="0"/>
              <a:t>	s = </a:t>
            </a:r>
            <a:r>
              <a:rPr lang="en-IN" dirty="0" err="1"/>
              <a:t>socket.socket</a:t>
            </a:r>
            <a:r>
              <a:rPr lang="en-IN" dirty="0"/>
              <a:t>(</a:t>
            </a:r>
            <a:r>
              <a:rPr lang="en-IN" dirty="0" err="1"/>
              <a:t>socket.AF_INET</a:t>
            </a:r>
            <a:r>
              <a:rPr lang="en-IN" dirty="0"/>
              <a:t>, </a:t>
            </a:r>
            <a:r>
              <a:rPr lang="en-IN" dirty="0" err="1"/>
              <a:t>socket.SOCK_STREAM</a:t>
            </a:r>
            <a:r>
              <a:rPr lang="en-IN" dirty="0"/>
              <a:t>)</a:t>
            </a:r>
          </a:p>
          <a:p>
            <a:r>
              <a:rPr lang="en-IN" dirty="0"/>
              <a:t>	</a:t>
            </a:r>
            <a:r>
              <a:rPr lang="en-IN" dirty="0" err="1"/>
              <a:t>s.bind</a:t>
            </a:r>
            <a:r>
              <a:rPr lang="en-IN" dirty="0"/>
              <a:t>(('localhost', 12345))</a:t>
            </a:r>
          </a:p>
          <a:p>
            <a:r>
              <a:rPr lang="en-IN" dirty="0"/>
              <a:t>	</a:t>
            </a:r>
            <a:r>
              <a:rPr lang="en-IN" dirty="0" err="1"/>
              <a:t>s.listen</a:t>
            </a:r>
            <a:r>
              <a:rPr lang="en-IN" dirty="0"/>
              <a:t>(10)   # allow max 10 pending connections</a:t>
            </a:r>
          </a:p>
          <a:p>
            <a:r>
              <a:rPr lang="en-IN" dirty="0"/>
              <a:t>	print("Server is listening...")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1846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1AD6180-D76C-CC8B-F92D-9B6B227DA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689" y="194065"/>
            <a:ext cx="8815658" cy="6326187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871BB5D-D454-D660-09D3-13BA80AF7B08}"/>
                  </a:ext>
                </a:extLst>
              </p14:cNvPr>
              <p14:cNvContentPartPr/>
              <p14:nvPr/>
            </p14:nvContentPartPr>
            <p14:xfrm>
              <a:off x="629552" y="4175137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871BB5D-D454-D660-09D3-13BA80AF7B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5912" y="4067137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597C65-5EA4-6461-EB17-1A580AC5E9BA}"/>
                  </a:ext>
                </a:extLst>
              </p14:cNvPr>
              <p14:cNvContentPartPr/>
              <p14:nvPr/>
            </p14:nvContentPartPr>
            <p14:xfrm>
              <a:off x="1163792" y="4675177"/>
              <a:ext cx="3639240" cy="300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597C65-5EA4-6461-EB17-1A580AC5E9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792" y="4567537"/>
                <a:ext cx="374688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1B88E0-C9F1-5423-112F-99EF2DB64AB9}"/>
                  </a:ext>
                </a:extLst>
              </p14:cNvPr>
              <p14:cNvContentPartPr/>
              <p14:nvPr/>
            </p14:nvContentPartPr>
            <p14:xfrm>
              <a:off x="1499672" y="4882177"/>
              <a:ext cx="1502640" cy="203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1B88E0-C9F1-5423-112F-99EF2DB64A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45672" y="4774537"/>
                <a:ext cx="161028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879A79D-8194-3E92-A117-26106265976F}"/>
                  </a:ext>
                </a:extLst>
              </p14:cNvPr>
              <p14:cNvContentPartPr/>
              <p14:nvPr/>
            </p14:nvContentPartPr>
            <p14:xfrm>
              <a:off x="1395632" y="4845097"/>
              <a:ext cx="2699640" cy="772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879A79D-8194-3E92-A117-26106265976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41632" y="4737097"/>
                <a:ext cx="2807280" cy="9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2341A17-9D0F-6DF2-0483-0F94D8F00F57}"/>
                  </a:ext>
                </a:extLst>
              </p14:cNvPr>
              <p14:cNvContentPartPr/>
              <p14:nvPr/>
            </p14:nvContentPartPr>
            <p14:xfrm>
              <a:off x="8674472" y="5752657"/>
              <a:ext cx="1959480" cy="655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2341A17-9D0F-6DF2-0483-0F94D8F00F5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20472" y="5644657"/>
                <a:ext cx="2067120" cy="8715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2E57D98-5B71-6078-1447-2A5C3A2C2011}"/>
              </a:ext>
            </a:extLst>
          </p:cNvPr>
          <p:cNvSpPr/>
          <p:nvPr/>
        </p:nvSpPr>
        <p:spPr>
          <a:xfrm>
            <a:off x="854015" y="4502989"/>
            <a:ext cx="10015268" cy="21609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BD745-ABCA-E73C-DEB2-BEF0928D1FE9}"/>
              </a:ext>
            </a:extLst>
          </p:cNvPr>
          <p:cNvSpPr txBox="1"/>
          <p:nvPr/>
        </p:nvSpPr>
        <p:spPr>
          <a:xfrm>
            <a:off x="792856" y="4502988"/>
            <a:ext cx="101713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Example:</a:t>
            </a:r>
          </a:p>
          <a:p>
            <a:r>
              <a:rPr lang="en-IN" dirty="0"/>
              <a:t>	import socket</a:t>
            </a:r>
          </a:p>
          <a:p>
            <a:r>
              <a:rPr lang="en-IN" dirty="0"/>
              <a:t>	s = </a:t>
            </a:r>
            <a:r>
              <a:rPr lang="en-IN" dirty="0" err="1"/>
              <a:t>socket.socket</a:t>
            </a:r>
            <a:r>
              <a:rPr lang="en-IN" dirty="0"/>
              <a:t>(</a:t>
            </a:r>
            <a:r>
              <a:rPr lang="en-IN" dirty="0" err="1"/>
              <a:t>socket.AF_INET</a:t>
            </a:r>
            <a:r>
              <a:rPr lang="en-IN" dirty="0"/>
              <a:t>, </a:t>
            </a:r>
            <a:r>
              <a:rPr lang="en-IN" dirty="0" err="1"/>
              <a:t>socket.SOCK_STREAM</a:t>
            </a:r>
            <a:r>
              <a:rPr lang="en-IN" dirty="0"/>
              <a:t>)</a:t>
            </a:r>
          </a:p>
          <a:p>
            <a:r>
              <a:rPr lang="en-IN" dirty="0"/>
              <a:t>	</a:t>
            </a:r>
            <a:r>
              <a:rPr lang="en-IN" dirty="0" err="1"/>
              <a:t>s.bind</a:t>
            </a:r>
            <a:r>
              <a:rPr lang="en-IN" dirty="0"/>
              <a:t>(('localhost', 12345))</a:t>
            </a:r>
          </a:p>
          <a:p>
            <a:r>
              <a:rPr lang="en-IN" dirty="0"/>
              <a:t>	</a:t>
            </a:r>
            <a:r>
              <a:rPr lang="en-IN" dirty="0" err="1"/>
              <a:t>s.listen</a:t>
            </a:r>
            <a:r>
              <a:rPr lang="en-IN" dirty="0"/>
              <a:t>(5)</a:t>
            </a:r>
          </a:p>
          <a:p>
            <a:r>
              <a:rPr lang="en-IN" dirty="0"/>
              <a:t>	conn, </a:t>
            </a:r>
            <a:r>
              <a:rPr lang="en-IN" dirty="0" err="1"/>
              <a:t>addr</a:t>
            </a:r>
            <a:r>
              <a:rPr lang="en-IN" dirty="0"/>
              <a:t> = </a:t>
            </a:r>
            <a:r>
              <a:rPr lang="en-IN" dirty="0" err="1"/>
              <a:t>s.accept</a:t>
            </a:r>
            <a:r>
              <a:rPr lang="en-IN" dirty="0"/>
              <a:t>()</a:t>
            </a:r>
          </a:p>
          <a:p>
            <a:r>
              <a:rPr lang="en-IN" dirty="0"/>
              <a:t>	print("Connection from:", </a:t>
            </a:r>
            <a:r>
              <a:rPr lang="en-IN" dirty="0" err="1"/>
              <a:t>addr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459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DE64C62-522E-4045-D7E8-743121213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646" y="362153"/>
            <a:ext cx="8305100" cy="6262486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72782B-9FF3-7DE3-23FA-8BE1D34752EB}"/>
              </a:ext>
            </a:extLst>
          </p:cNvPr>
          <p:cNvSpPr/>
          <p:nvPr/>
        </p:nvSpPr>
        <p:spPr>
          <a:xfrm>
            <a:off x="1647646" y="4546121"/>
            <a:ext cx="7556739" cy="21824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EC166-63BC-E252-C66C-BFEDCE82B518}"/>
              </a:ext>
            </a:extLst>
          </p:cNvPr>
          <p:cNvSpPr txBox="1"/>
          <p:nvPr/>
        </p:nvSpPr>
        <p:spPr>
          <a:xfrm>
            <a:off x="1647646" y="4546120"/>
            <a:ext cx="75567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Example:</a:t>
            </a:r>
          </a:p>
          <a:p>
            <a:r>
              <a:rPr lang="en-IN" dirty="0"/>
              <a:t>	import socket</a:t>
            </a:r>
          </a:p>
          <a:p>
            <a:r>
              <a:rPr lang="en-IN" dirty="0"/>
              <a:t>	s = </a:t>
            </a:r>
            <a:r>
              <a:rPr lang="en-IN" dirty="0" err="1"/>
              <a:t>socket.socket</a:t>
            </a:r>
            <a:r>
              <a:rPr lang="en-IN" dirty="0"/>
              <a:t>(</a:t>
            </a:r>
            <a:r>
              <a:rPr lang="en-IN" dirty="0" err="1"/>
              <a:t>socket.AF_INET</a:t>
            </a:r>
            <a:r>
              <a:rPr lang="en-IN" dirty="0"/>
              <a:t>, </a:t>
            </a:r>
            <a:r>
              <a:rPr lang="en-IN" dirty="0" err="1"/>
              <a:t>socket.SOCK_STREAM</a:t>
            </a:r>
            <a:r>
              <a:rPr lang="en-IN" dirty="0"/>
              <a:t>)</a:t>
            </a:r>
          </a:p>
          <a:p>
            <a:r>
              <a:rPr lang="en-IN" dirty="0"/>
              <a:t>	</a:t>
            </a:r>
            <a:r>
              <a:rPr lang="en-IN" dirty="0" err="1"/>
              <a:t>s.connect</a:t>
            </a:r>
            <a:r>
              <a:rPr lang="en-IN" dirty="0"/>
              <a:t>(('localhost', 12345))</a:t>
            </a:r>
          </a:p>
          <a:p>
            <a:r>
              <a:rPr lang="en-IN" dirty="0"/>
              <a:t>	</a:t>
            </a:r>
            <a:r>
              <a:rPr lang="en-IN" dirty="0" err="1"/>
              <a:t>s.send</a:t>
            </a:r>
            <a:r>
              <a:rPr lang="en-IN" dirty="0"/>
              <a:t>(</a:t>
            </a:r>
            <a:r>
              <a:rPr lang="en-IN" dirty="0" err="1"/>
              <a:t>b"Hello</a:t>
            </a:r>
            <a:r>
              <a:rPr lang="en-IN" dirty="0"/>
              <a:t>, Server!")     # send data</a:t>
            </a:r>
          </a:p>
          <a:p>
            <a:r>
              <a:rPr lang="en-IN" dirty="0"/>
              <a:t>	data = </a:t>
            </a:r>
            <a:r>
              <a:rPr lang="en-IN" dirty="0" err="1"/>
              <a:t>s.recv</a:t>
            </a:r>
            <a:r>
              <a:rPr lang="en-IN" dirty="0"/>
              <a:t>(1024)           # receive up to 1024 bytes</a:t>
            </a:r>
          </a:p>
          <a:p>
            <a:r>
              <a:rPr lang="en-IN" dirty="0"/>
              <a:t>	print("Received from server:", </a:t>
            </a:r>
            <a:r>
              <a:rPr lang="en-IN" dirty="0" err="1"/>
              <a:t>data.decode</a:t>
            </a:r>
            <a:r>
              <a:rPr lang="en-IN" dirty="0"/>
              <a:t>())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463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D40DE74-A1A2-E67D-B2D8-D5FFDF7DB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08" y="292100"/>
            <a:ext cx="8041519" cy="6273800"/>
          </a:xfrm>
        </p:spPr>
      </p:pic>
    </p:spTree>
    <p:extLst>
      <p:ext uri="{BB962C8B-B14F-4D97-AF65-F5344CB8AC3E}">
        <p14:creationId xmlns:p14="http://schemas.microsoft.com/office/powerpoint/2010/main" val="1461069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43D3CDD-6FC6-358D-6267-C008B9B2AD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46" y="258763"/>
            <a:ext cx="10966809" cy="634047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09ABA1-452C-06CA-8F18-A5E8A4608AA7}"/>
              </a:ext>
            </a:extLst>
          </p:cNvPr>
          <p:cNvSpPr/>
          <p:nvPr/>
        </p:nvSpPr>
        <p:spPr>
          <a:xfrm>
            <a:off x="491706" y="4891177"/>
            <a:ext cx="5201728" cy="15268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FFDA4-7267-B515-2E68-800471E86959}"/>
              </a:ext>
            </a:extLst>
          </p:cNvPr>
          <p:cNvSpPr txBox="1"/>
          <p:nvPr/>
        </p:nvSpPr>
        <p:spPr>
          <a:xfrm>
            <a:off x="491706" y="4891177"/>
            <a:ext cx="52017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Example:</a:t>
            </a:r>
          </a:p>
          <a:p>
            <a:r>
              <a:rPr lang="en-IN" dirty="0"/>
              <a:t>	</a:t>
            </a:r>
            <a:r>
              <a:rPr lang="en-IN" dirty="0" err="1"/>
              <a:t>s.close</a:t>
            </a:r>
            <a:r>
              <a:rPr lang="en-IN" dirty="0"/>
              <a:t>()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7644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erver&#10;&#10;AI-generated content may be incorrect.">
            <a:extLst>
              <a:ext uri="{FF2B5EF4-FFF2-40B4-BE49-F238E27FC236}">
                <a16:creationId xmlns:a16="http://schemas.microsoft.com/office/drawing/2014/main" id="{3B57C326-FB52-762E-9C38-270083061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87" y="214312"/>
            <a:ext cx="9641026" cy="6429375"/>
          </a:xfrm>
        </p:spPr>
      </p:pic>
    </p:spTree>
    <p:extLst>
      <p:ext uri="{BB962C8B-B14F-4D97-AF65-F5344CB8AC3E}">
        <p14:creationId xmlns:p14="http://schemas.microsoft.com/office/powerpoint/2010/main" val="2998588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119DAD-3AED-37C6-260C-F4E7495A5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172" y="361950"/>
            <a:ext cx="9251405" cy="5815013"/>
          </a:xfrm>
        </p:spPr>
      </p:pic>
    </p:spTree>
    <p:extLst>
      <p:ext uri="{BB962C8B-B14F-4D97-AF65-F5344CB8AC3E}">
        <p14:creationId xmlns:p14="http://schemas.microsoft.com/office/powerpoint/2010/main" val="2420887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2EA17-2840-DF15-213A-4A175A980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42" y="474453"/>
            <a:ext cx="10948358" cy="570251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Advantages of the Client-Server Model</a:t>
            </a:r>
          </a:p>
          <a:p>
            <a:pPr fontAlgn="base"/>
            <a:r>
              <a:rPr lang="en-US" dirty="0"/>
              <a:t>Centralized Data Management: Easy to maintain and back up data.</a:t>
            </a:r>
          </a:p>
          <a:p>
            <a:pPr fontAlgn="base"/>
            <a:r>
              <a:rPr lang="en-US" dirty="0"/>
              <a:t>Cost Efficiency: Clients require less processing power.</a:t>
            </a:r>
          </a:p>
          <a:p>
            <a:pPr fontAlgn="base"/>
            <a:r>
              <a:rPr lang="en-US" dirty="0"/>
              <a:t>Scalability: Servers and clients can scale independently.</a:t>
            </a:r>
          </a:p>
          <a:p>
            <a:pPr fontAlgn="base"/>
            <a:r>
              <a:rPr lang="en-US" dirty="0"/>
              <a:t>Security: Centralized security policies and authentication.</a:t>
            </a:r>
          </a:p>
          <a:p>
            <a:pPr fontAlgn="base"/>
            <a:r>
              <a:rPr lang="en-US" dirty="0"/>
              <a:t>Data Recovery: Easier backup and restore from a single source.</a:t>
            </a:r>
          </a:p>
          <a:p>
            <a:pPr fontAlgn="base"/>
            <a:r>
              <a:rPr lang="en-US" b="1" dirty="0"/>
              <a:t>Disadvantages of Client-Server Model</a:t>
            </a:r>
          </a:p>
          <a:p>
            <a:pPr fontAlgn="base"/>
            <a:r>
              <a:rPr lang="en-US" dirty="0"/>
              <a:t>Client Vulnerability: Risk of malware if servers distribute unsafe files.</a:t>
            </a:r>
          </a:p>
          <a:p>
            <a:pPr fontAlgn="base"/>
            <a:r>
              <a:rPr lang="en-US" dirty="0"/>
              <a:t>Server as a Target: Susceptible to DDoS (Denial of Service) attacks.</a:t>
            </a:r>
          </a:p>
          <a:p>
            <a:pPr fontAlgn="base"/>
            <a:r>
              <a:rPr lang="en-US" dirty="0"/>
              <a:t>Data Spoofing: Unprotected data can be tampered with in transit.</a:t>
            </a:r>
          </a:p>
          <a:p>
            <a:pPr fontAlgn="base"/>
            <a:r>
              <a:rPr lang="en-US" dirty="0"/>
              <a:t>MITM Attacks: Unsecured connections can be intercepted by attackers.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301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4048D-0A2B-FF85-5707-C4DC6894E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5992"/>
            <a:ext cx="10515600" cy="5460971"/>
          </a:xfrm>
        </p:spPr>
        <p:txBody>
          <a:bodyPr anchor="t"/>
          <a:lstStyle/>
          <a:p>
            <a:pPr marL="3657600" lvl="8" indent="0">
              <a:buNone/>
            </a:pPr>
            <a:r>
              <a:rPr lang="en-IN" dirty="0"/>
              <a:t>	</a:t>
            </a:r>
          </a:p>
          <a:p>
            <a:pPr marL="3657600" lvl="8" indent="0">
              <a:buNone/>
            </a:pPr>
            <a:endParaRPr lang="en-IN" dirty="0"/>
          </a:p>
          <a:p>
            <a:pPr marL="3657600" lvl="8" indent="0">
              <a:buNone/>
            </a:pPr>
            <a:endParaRPr lang="en-IN" dirty="0"/>
          </a:p>
          <a:p>
            <a:pPr marL="3657600" lvl="8" indent="0">
              <a:buNone/>
            </a:pPr>
            <a:endParaRPr lang="en-IN" dirty="0"/>
          </a:p>
          <a:p>
            <a:pPr marL="3657600" lvl="8" indent="0">
              <a:buNone/>
            </a:pPr>
            <a:endParaRPr lang="en-IN" dirty="0"/>
          </a:p>
          <a:p>
            <a:pPr marL="3657600" lvl="8" indent="0">
              <a:buNone/>
            </a:pPr>
            <a:endParaRPr lang="en-IN" dirty="0"/>
          </a:p>
          <a:p>
            <a:pPr marL="3657600" lvl="8" indent="0">
              <a:buNone/>
            </a:pPr>
            <a:endParaRPr lang="en-IN" dirty="0"/>
          </a:p>
          <a:p>
            <a:pPr marL="3657600" lvl="8" indent="0">
              <a:buNone/>
            </a:pPr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38385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872</Words>
  <Application>Microsoft Office PowerPoint</Application>
  <PresentationFormat>Widescreen</PresentationFormat>
  <Paragraphs>141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Special Types of Clients and Servers</vt:lpstr>
      <vt:lpstr>PowerPoint Presentation</vt:lpstr>
      <vt:lpstr>    Socket</vt:lpstr>
      <vt:lpstr>      Socket Address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 DAS</dc:creator>
  <cp:lastModifiedBy>AYAN DAS</cp:lastModifiedBy>
  <cp:revision>13</cp:revision>
  <dcterms:created xsi:type="dcterms:W3CDTF">2025-09-14T15:21:15Z</dcterms:created>
  <dcterms:modified xsi:type="dcterms:W3CDTF">2025-09-20T14:38:28Z</dcterms:modified>
</cp:coreProperties>
</file>
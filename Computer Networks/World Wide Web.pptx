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embeddedFontLst>
    <p:embeddedFont>
      <p:font typeface="Nunito" panose="020F0502020204030204" pitchFamily="2" charset="0"/>
      <p:regular r:id="rId26"/>
      <p:bold r:id="rId27"/>
      <p:italic r:id="rId28"/>
      <p:boldItalic r:id="rId29"/>
    </p:embeddedFont>
    <p:embeddedFont>
      <p:font typeface="Roboto" panose="020F0502020204030204"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c6f73a04f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c6f73a0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88a0cd60ed_0_1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88a0cd60ed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7e693373ed_0_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7e693373e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c6f73a04f_0_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c6f73a04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8163d55a9c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8163d55a9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7e693373ed_0_1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7e693373ed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8a4d8bca87_0_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8a4d8bca87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8a64103cf1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8a64103c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8a64103cf1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8a64103cf1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8163d55a9c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8163d55a9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7e693373ed_0_4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7e693373ed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7e693373ed_0_4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7e693373ed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7e693373ed_0_5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7e693373ed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7e693373ed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7e693373ed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7ec43b214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7ec43b214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7ec43b214e_0_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7ec43b214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7ec43b214e_0_1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7ec43b214e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ec43b214e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7ec43b214e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7ec43b214e_0_2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7ec43b214e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7ec43b214e_0_3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7ec43b214e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7ec43b214e_0_3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7ec43b214e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7ec43b214e_0_4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7ec43b214e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7ec43b214e_0_5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7ec43b214e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2"/>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Google Shape;14;p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7" name="Google Shape;17;p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5" name="Google Shape;35;p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1600"/>
              </a:spcBef>
              <a:spcAft>
                <a:spcPts val="0"/>
              </a:spcAft>
              <a:buClr>
                <a:schemeClr val="lt1"/>
              </a:buClr>
              <a:buSzPts val="1200"/>
              <a:buChar char="○"/>
              <a:defRPr sz="1200">
                <a:solidFill>
                  <a:schemeClr val="lt1"/>
                </a:solidFill>
              </a:defRPr>
            </a:lvl2pPr>
            <a:lvl3pPr marL="1371600" lvl="2" indent="-304800">
              <a:spcBef>
                <a:spcPts val="1600"/>
              </a:spcBef>
              <a:spcAft>
                <a:spcPts val="0"/>
              </a:spcAft>
              <a:buClr>
                <a:schemeClr val="lt1"/>
              </a:buClr>
              <a:buSzPts val="1200"/>
              <a:buChar char="■"/>
              <a:defRPr sz="1200">
                <a:solidFill>
                  <a:schemeClr val="lt1"/>
                </a:solidFill>
              </a:defRPr>
            </a:lvl3pPr>
            <a:lvl4pPr marL="1828800" lvl="3" indent="-304800">
              <a:spcBef>
                <a:spcPts val="1600"/>
              </a:spcBef>
              <a:spcAft>
                <a:spcPts val="0"/>
              </a:spcAft>
              <a:buClr>
                <a:schemeClr val="lt1"/>
              </a:buClr>
              <a:buSzPts val="1200"/>
              <a:buChar char="●"/>
              <a:defRPr sz="1200">
                <a:solidFill>
                  <a:schemeClr val="lt1"/>
                </a:solidFill>
              </a:defRPr>
            </a:lvl4pPr>
            <a:lvl5pPr marL="2286000" lvl="4" indent="-304800">
              <a:spcBef>
                <a:spcPts val="1600"/>
              </a:spcBef>
              <a:spcAft>
                <a:spcPts val="0"/>
              </a:spcAft>
              <a:buClr>
                <a:schemeClr val="lt1"/>
              </a:buClr>
              <a:buSzPts val="1200"/>
              <a:buChar char="○"/>
              <a:defRPr sz="1200">
                <a:solidFill>
                  <a:schemeClr val="lt1"/>
                </a:solidFill>
              </a:defRPr>
            </a:lvl5pPr>
            <a:lvl6pPr marL="2743200" lvl="5" indent="-304800">
              <a:spcBef>
                <a:spcPts val="1600"/>
              </a:spcBef>
              <a:spcAft>
                <a:spcPts val="0"/>
              </a:spcAft>
              <a:buClr>
                <a:schemeClr val="lt1"/>
              </a:buClr>
              <a:buSzPts val="1200"/>
              <a:buChar char="■"/>
              <a:defRPr sz="1200">
                <a:solidFill>
                  <a:schemeClr val="lt1"/>
                </a:solidFill>
              </a:defRPr>
            </a:lvl6pPr>
            <a:lvl7pPr marL="3200400" lvl="6" indent="-304800">
              <a:spcBef>
                <a:spcPts val="1600"/>
              </a:spcBef>
              <a:spcAft>
                <a:spcPts val="0"/>
              </a:spcAft>
              <a:buClr>
                <a:schemeClr val="lt1"/>
              </a:buClr>
              <a:buSzPts val="1200"/>
              <a:buChar char="●"/>
              <a:defRPr sz="1200">
                <a:solidFill>
                  <a:schemeClr val="lt1"/>
                </a:solidFill>
              </a:defRPr>
            </a:lvl7pPr>
            <a:lvl8pPr marL="3657600" lvl="7" indent="-304800">
              <a:spcBef>
                <a:spcPts val="1600"/>
              </a:spcBef>
              <a:spcAft>
                <a:spcPts val="0"/>
              </a:spcAft>
              <a:buClr>
                <a:schemeClr val="lt1"/>
              </a:buClr>
              <a:buSzPts val="1200"/>
              <a:buChar char="○"/>
              <a:defRPr sz="1200">
                <a:solidFill>
                  <a:schemeClr val="lt1"/>
                </a:solidFill>
              </a:defRPr>
            </a:lvl8pPr>
            <a:lvl9pPr marL="4114800" lvl="8" indent="-304800">
              <a:spcBef>
                <a:spcPts val="1600"/>
              </a:spcBef>
              <a:spcAft>
                <a:spcPts val="1600"/>
              </a:spcAft>
              <a:buClr>
                <a:schemeClr val="lt1"/>
              </a:buClr>
              <a:buSzPts val="1200"/>
              <a:buChar char="■"/>
              <a:defRPr sz="1200">
                <a:solidFill>
                  <a:schemeClr val="lt1"/>
                </a:solidFill>
              </a:defRPr>
            </a:lvl9pPr>
          </a:lstStyle>
          <a:p>
            <a:endParaRPr/>
          </a:p>
        </p:txBody>
      </p:sp>
      <p:sp>
        <p:nvSpPr>
          <p:cNvPr id="41" name="Google Shape;41;p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4" name="Google Shape;44;p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a:endParaRPr/>
          </a:p>
        </p:txBody>
      </p:sp>
      <p:sp>
        <p:nvSpPr>
          <p:cNvPr id="49" name="Google Shape;49;p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Google Shape;56;p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www.geeksforgeeks.org/techtips/google-chrome-browser-training-and-support/"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www.geeksforgeeks.org/computer-networks/world-wide-web-www/" TargetMode="External"/><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b="1">
                <a:latin typeface="Arial"/>
                <a:ea typeface="Arial"/>
                <a:cs typeface="Arial"/>
                <a:sym typeface="Arial"/>
              </a:rPr>
              <a:t>World Wide Web (W.W.W)</a:t>
            </a:r>
            <a:endParaRPr b="1">
              <a:latin typeface="Arial"/>
              <a:ea typeface="Arial"/>
              <a:cs typeface="Arial"/>
              <a:sym typeface="Arial"/>
            </a:endParaRPr>
          </a:p>
        </p:txBody>
      </p:sp>
      <p:sp>
        <p:nvSpPr>
          <p:cNvPr id="68" name="Google Shape;68;p13"/>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400">
              <a:latin typeface="Times New Roman"/>
              <a:ea typeface="Times New Roman"/>
              <a:cs typeface="Times New Roman"/>
              <a:sym typeface="Times New Roman"/>
            </a:endParaRPr>
          </a:p>
          <a:p>
            <a:pPr marL="0" lvl="0" indent="0" algn="l" rtl="0">
              <a:spcBef>
                <a:spcPts val="0"/>
              </a:spcBef>
              <a:spcAft>
                <a:spcPts val="0"/>
              </a:spcAft>
              <a:buNone/>
            </a:pPr>
            <a:r>
              <a:rPr lang="en" sz="1400">
                <a:latin typeface="Times New Roman"/>
                <a:ea typeface="Times New Roman"/>
                <a:cs typeface="Times New Roman"/>
                <a:sym typeface="Times New Roman"/>
              </a:rPr>
              <a:t> </a:t>
            </a:r>
            <a:r>
              <a:rPr lang="en" sz="1400" b="1" i="1">
                <a:latin typeface="Times New Roman"/>
                <a:ea typeface="Times New Roman"/>
                <a:cs typeface="Times New Roman"/>
                <a:sym typeface="Times New Roman"/>
              </a:rPr>
              <a:t>Souptik Bhattacharjee, Roll - 260</a:t>
            </a:r>
            <a:endParaRPr sz="1400" b="1" i="1">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322500" y="679275"/>
            <a:ext cx="2808000" cy="1892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100" b="1"/>
              <a:t>Slide Content-&gt;</a:t>
            </a:r>
            <a:endParaRPr sz="3100" b="1"/>
          </a:p>
        </p:txBody>
      </p:sp>
      <p:sp>
        <p:nvSpPr>
          <p:cNvPr id="74" name="Google Shape;74;p14"/>
          <p:cNvSpPr txBox="1">
            <a:spLocks noGrp="1"/>
          </p:cNvSpPr>
          <p:nvPr>
            <p:ph type="body" idx="1"/>
          </p:nvPr>
        </p:nvSpPr>
        <p:spPr>
          <a:xfrm>
            <a:off x="3471850" y="270375"/>
            <a:ext cx="5320200" cy="4493100"/>
          </a:xfrm>
          <a:prstGeom prst="rect">
            <a:avLst/>
          </a:prstGeom>
        </p:spPr>
        <p:txBody>
          <a:bodyPr spcFirstLastPara="1" wrap="square" lIns="91425" tIns="91425" rIns="91425" bIns="91425" anchor="t" anchorCtr="0">
            <a:noAutofit/>
          </a:bodyPr>
          <a:lstStyle/>
          <a:p>
            <a:pPr marL="457200" lvl="0" indent="-371475" algn="l" rtl="0">
              <a:spcBef>
                <a:spcPts val="0"/>
              </a:spcBef>
              <a:spcAft>
                <a:spcPts val="0"/>
              </a:spcAft>
              <a:buClr>
                <a:srgbClr val="273239"/>
              </a:buClr>
              <a:buSzPts val="2250"/>
              <a:buFont typeface="Nunito"/>
              <a:buAutoNum type="arabicPeriod"/>
            </a:pPr>
            <a:r>
              <a:rPr lang="en" sz="2250" b="1">
                <a:solidFill>
                  <a:srgbClr val="273239"/>
                </a:solidFill>
                <a:highlight>
                  <a:srgbClr val="FFFFFF"/>
                </a:highlight>
                <a:latin typeface="Nunito"/>
                <a:ea typeface="Nunito"/>
                <a:cs typeface="Nunito"/>
                <a:sym typeface="Nunito"/>
              </a:rPr>
              <a:t>Introduction</a:t>
            </a:r>
            <a:endParaRPr sz="2250" b="1">
              <a:solidFill>
                <a:srgbClr val="273239"/>
              </a:solidFill>
              <a:highlight>
                <a:srgbClr val="FFFFFF"/>
              </a:highlight>
              <a:latin typeface="Nunito"/>
              <a:ea typeface="Nunito"/>
              <a:cs typeface="Nunito"/>
              <a:sym typeface="Nunito"/>
            </a:endParaRPr>
          </a:p>
          <a:p>
            <a:pPr marL="457200" lvl="0" indent="-371475" algn="l" rtl="0">
              <a:spcBef>
                <a:spcPts val="0"/>
              </a:spcBef>
              <a:spcAft>
                <a:spcPts val="0"/>
              </a:spcAft>
              <a:buClr>
                <a:srgbClr val="273239"/>
              </a:buClr>
              <a:buSzPts val="2250"/>
              <a:buFont typeface="Nunito"/>
              <a:buAutoNum type="arabicPeriod"/>
            </a:pPr>
            <a:r>
              <a:rPr lang="en" sz="2250" b="1">
                <a:solidFill>
                  <a:srgbClr val="273239"/>
                </a:solidFill>
                <a:highlight>
                  <a:srgbClr val="FFFFFF"/>
                </a:highlight>
                <a:latin typeface="Nunito"/>
                <a:ea typeface="Nunito"/>
                <a:cs typeface="Nunito"/>
                <a:sym typeface="Nunito"/>
              </a:rPr>
              <a:t>History of the Web</a:t>
            </a:r>
            <a:endParaRPr sz="2250" b="1">
              <a:solidFill>
                <a:srgbClr val="273239"/>
              </a:solidFill>
              <a:highlight>
                <a:srgbClr val="FFFFFF"/>
              </a:highlight>
              <a:latin typeface="Nunito"/>
              <a:ea typeface="Nunito"/>
              <a:cs typeface="Nunito"/>
              <a:sym typeface="Nunito"/>
            </a:endParaRPr>
          </a:p>
          <a:p>
            <a:pPr marL="457200" lvl="0" indent="-371475" algn="l" rtl="0">
              <a:spcBef>
                <a:spcPts val="0"/>
              </a:spcBef>
              <a:spcAft>
                <a:spcPts val="0"/>
              </a:spcAft>
              <a:buClr>
                <a:srgbClr val="273239"/>
              </a:buClr>
              <a:buSzPts val="2250"/>
              <a:buFont typeface="Nunito"/>
              <a:buAutoNum type="arabicPeriod"/>
            </a:pPr>
            <a:r>
              <a:rPr lang="en" sz="2250" b="1">
                <a:solidFill>
                  <a:srgbClr val="273239"/>
                </a:solidFill>
                <a:highlight>
                  <a:srgbClr val="FFFFFF"/>
                </a:highlight>
                <a:latin typeface="Nunito"/>
                <a:ea typeface="Nunito"/>
                <a:cs typeface="Nunito"/>
                <a:sym typeface="Nunito"/>
              </a:rPr>
              <a:t>Architecture of WWW</a:t>
            </a:r>
            <a:endParaRPr sz="2250" b="1">
              <a:solidFill>
                <a:srgbClr val="273239"/>
              </a:solidFill>
              <a:highlight>
                <a:srgbClr val="FFFFFF"/>
              </a:highlight>
              <a:latin typeface="Nunito"/>
              <a:ea typeface="Nunito"/>
              <a:cs typeface="Nunito"/>
              <a:sym typeface="Nunito"/>
            </a:endParaRPr>
          </a:p>
          <a:p>
            <a:pPr marL="457200" lvl="0" indent="-371475" algn="l" rtl="0">
              <a:spcBef>
                <a:spcPts val="0"/>
              </a:spcBef>
              <a:spcAft>
                <a:spcPts val="0"/>
              </a:spcAft>
              <a:buClr>
                <a:srgbClr val="273239"/>
              </a:buClr>
              <a:buSzPts val="2250"/>
              <a:buFont typeface="Nunito"/>
              <a:buAutoNum type="arabicPeriod"/>
            </a:pPr>
            <a:r>
              <a:rPr lang="en" sz="2250" b="1">
                <a:solidFill>
                  <a:srgbClr val="273239"/>
                </a:solidFill>
                <a:highlight>
                  <a:srgbClr val="FFFFFF"/>
                </a:highlight>
                <a:latin typeface="Nunito"/>
                <a:ea typeface="Nunito"/>
                <a:cs typeface="Nunito"/>
                <a:sym typeface="Nunito"/>
              </a:rPr>
              <a:t>WWW Vs. Internet</a:t>
            </a:r>
            <a:endParaRPr sz="2250" b="1">
              <a:solidFill>
                <a:srgbClr val="273239"/>
              </a:solidFill>
              <a:highlight>
                <a:srgbClr val="FFFFFF"/>
              </a:highlight>
              <a:latin typeface="Nunito"/>
              <a:ea typeface="Nunito"/>
              <a:cs typeface="Nunito"/>
              <a:sym typeface="Nunito"/>
            </a:endParaRPr>
          </a:p>
          <a:p>
            <a:pPr marL="457200" lvl="0" indent="-371475" algn="l" rtl="0">
              <a:spcBef>
                <a:spcPts val="0"/>
              </a:spcBef>
              <a:spcAft>
                <a:spcPts val="0"/>
              </a:spcAft>
              <a:buClr>
                <a:srgbClr val="273239"/>
              </a:buClr>
              <a:buSzPts val="2250"/>
              <a:buFont typeface="Nunito"/>
              <a:buAutoNum type="arabicPeriod"/>
            </a:pPr>
            <a:r>
              <a:rPr lang="en" sz="2250" b="1">
                <a:solidFill>
                  <a:srgbClr val="273239"/>
                </a:solidFill>
                <a:highlight>
                  <a:srgbClr val="FFFFFF"/>
                </a:highlight>
                <a:latin typeface="Nunito"/>
                <a:ea typeface="Nunito"/>
                <a:cs typeface="Nunito"/>
                <a:sym typeface="Nunito"/>
              </a:rPr>
              <a:t>Advantages of the Web</a:t>
            </a:r>
            <a:endParaRPr sz="2250" b="1">
              <a:solidFill>
                <a:srgbClr val="273239"/>
              </a:solidFill>
              <a:highlight>
                <a:srgbClr val="FFFFFF"/>
              </a:highlight>
              <a:latin typeface="Nunito"/>
              <a:ea typeface="Nunito"/>
              <a:cs typeface="Nunito"/>
              <a:sym typeface="Nunito"/>
            </a:endParaRPr>
          </a:p>
          <a:p>
            <a:pPr marL="457200" lvl="0" indent="-371475" algn="l" rtl="0">
              <a:spcBef>
                <a:spcPts val="0"/>
              </a:spcBef>
              <a:spcAft>
                <a:spcPts val="0"/>
              </a:spcAft>
              <a:buClr>
                <a:srgbClr val="273239"/>
              </a:buClr>
              <a:buSzPts val="2250"/>
              <a:buFont typeface="Nunito"/>
              <a:buAutoNum type="arabicPeriod"/>
            </a:pPr>
            <a:r>
              <a:rPr lang="en" sz="2250" b="1">
                <a:solidFill>
                  <a:srgbClr val="273239"/>
                </a:solidFill>
                <a:highlight>
                  <a:srgbClr val="FFFFFF"/>
                </a:highlight>
                <a:latin typeface="Nunito"/>
                <a:ea typeface="Nunito"/>
                <a:cs typeface="Nunito"/>
                <a:sym typeface="Nunito"/>
              </a:rPr>
              <a:t>Limitations/Challenges of the Web</a:t>
            </a:r>
            <a:endParaRPr sz="2250" b="1">
              <a:solidFill>
                <a:srgbClr val="273239"/>
              </a:solidFill>
              <a:highlight>
                <a:srgbClr val="FFFFFF"/>
              </a:highlight>
              <a:latin typeface="Nunito"/>
              <a:ea typeface="Nunito"/>
              <a:cs typeface="Nunito"/>
              <a:sym typeface="Nunito"/>
            </a:endParaRPr>
          </a:p>
          <a:p>
            <a:pPr marL="457200" lvl="0" indent="-371475" algn="l" rtl="0">
              <a:spcBef>
                <a:spcPts val="0"/>
              </a:spcBef>
              <a:spcAft>
                <a:spcPts val="0"/>
              </a:spcAft>
              <a:buClr>
                <a:srgbClr val="273239"/>
              </a:buClr>
              <a:buSzPts val="2250"/>
              <a:buFont typeface="Nunito"/>
              <a:buAutoNum type="arabicPeriod"/>
            </a:pPr>
            <a:r>
              <a:rPr lang="en" sz="2250" b="1">
                <a:solidFill>
                  <a:srgbClr val="273239"/>
                </a:solidFill>
                <a:highlight>
                  <a:srgbClr val="FFFFFF"/>
                </a:highlight>
                <a:latin typeface="Nunito"/>
                <a:ea typeface="Nunito"/>
                <a:cs typeface="Nunito"/>
                <a:sym typeface="Nunito"/>
              </a:rPr>
              <a:t>Some Key Facts</a:t>
            </a:r>
            <a:endParaRPr sz="2250" b="1">
              <a:solidFill>
                <a:srgbClr val="273239"/>
              </a:solidFill>
              <a:highlight>
                <a:srgbClr val="FFFFFF"/>
              </a:highlight>
              <a:latin typeface="Nunito"/>
              <a:ea typeface="Nunito"/>
              <a:cs typeface="Nunito"/>
              <a:sym typeface="Nunito"/>
            </a:endParaRPr>
          </a:p>
          <a:p>
            <a:pPr marL="457200" lvl="0" indent="-371475" algn="l" rtl="0">
              <a:spcBef>
                <a:spcPts val="0"/>
              </a:spcBef>
              <a:spcAft>
                <a:spcPts val="0"/>
              </a:spcAft>
              <a:buClr>
                <a:srgbClr val="273239"/>
              </a:buClr>
              <a:buSzPts val="2250"/>
              <a:buFont typeface="Nunito"/>
              <a:buAutoNum type="arabicPeriod"/>
            </a:pPr>
            <a:r>
              <a:rPr lang="en" sz="2250" b="1">
                <a:solidFill>
                  <a:srgbClr val="273239"/>
                </a:solidFill>
                <a:highlight>
                  <a:srgbClr val="FFFFFF"/>
                </a:highlight>
                <a:latin typeface="Nunito"/>
                <a:ea typeface="Nunito"/>
                <a:cs typeface="Nunito"/>
                <a:sym typeface="Nunito"/>
              </a:rPr>
              <a:t>Conclusion</a:t>
            </a:r>
            <a:endParaRPr sz="2250" b="1">
              <a:solidFill>
                <a:srgbClr val="273239"/>
              </a:solidFill>
              <a:highlight>
                <a:srgbClr val="FFFFFF"/>
              </a:highlight>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p>
            <a:pPr marL="457200" lvl="0" indent="-508000" algn="ctr" rtl="0">
              <a:spcBef>
                <a:spcPts val="0"/>
              </a:spcBef>
              <a:spcAft>
                <a:spcPts val="0"/>
              </a:spcAft>
              <a:buSzPts val="4400"/>
              <a:buFont typeface="Arial"/>
              <a:buAutoNum type="arabicPeriod"/>
            </a:pPr>
            <a:r>
              <a:rPr lang="en" sz="4400" b="1">
                <a:latin typeface="Arial"/>
                <a:ea typeface="Arial"/>
                <a:cs typeface="Arial"/>
                <a:sym typeface="Arial"/>
              </a:rPr>
              <a:t>Introduction</a:t>
            </a:r>
            <a:endParaRPr sz="6000" b="1">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b="1">
                <a:latin typeface="Arial"/>
                <a:ea typeface="Arial"/>
                <a:cs typeface="Arial"/>
                <a:sym typeface="Arial"/>
              </a:rPr>
              <a:t>Introduction…</a:t>
            </a:r>
            <a:endParaRPr b="1">
              <a:latin typeface="Arial"/>
              <a:ea typeface="Arial"/>
              <a:cs typeface="Arial"/>
              <a:sym typeface="Arial"/>
            </a:endParaRPr>
          </a:p>
        </p:txBody>
      </p:sp>
      <p:sp>
        <p:nvSpPr>
          <p:cNvPr id="85" name="Google Shape;85;p16"/>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457200" lvl="0" indent="-333375" algn="l" rtl="0">
              <a:spcBef>
                <a:spcPts val="0"/>
              </a:spcBef>
              <a:spcAft>
                <a:spcPts val="0"/>
              </a:spcAft>
              <a:buClr>
                <a:srgbClr val="273239"/>
              </a:buClr>
              <a:buSzPts val="1650"/>
              <a:buFont typeface="Nunito"/>
              <a:buChar char="●"/>
            </a:pPr>
            <a:r>
              <a:rPr lang="en" sz="1650" b="1">
                <a:solidFill>
                  <a:srgbClr val="273239"/>
                </a:solidFill>
                <a:highlight>
                  <a:srgbClr val="FFFFFF"/>
                </a:highlight>
                <a:latin typeface="Nunito"/>
                <a:ea typeface="Nunito"/>
                <a:cs typeface="Nunito"/>
                <a:sym typeface="Nunito"/>
              </a:rPr>
              <a:t>The World Wide Web (WWW), often called the Web, is a system of interconnected webpages and information that you can access using the Internet. It was created to help people share and find information easily, using links that connect different pages together.</a:t>
            </a:r>
            <a:endParaRPr sz="1650" b="1">
              <a:solidFill>
                <a:srgbClr val="273239"/>
              </a:solidFill>
              <a:highlight>
                <a:srgbClr val="FFFFFF"/>
              </a:highlight>
              <a:latin typeface="Nunito"/>
              <a:ea typeface="Nunito"/>
              <a:cs typeface="Nunito"/>
              <a:sym typeface="Nunito"/>
            </a:endParaRPr>
          </a:p>
          <a:p>
            <a:pPr marL="457200" lvl="0" indent="-333375" algn="l" rtl="0">
              <a:spcBef>
                <a:spcPts val="0"/>
              </a:spcBef>
              <a:spcAft>
                <a:spcPts val="0"/>
              </a:spcAft>
              <a:buClr>
                <a:srgbClr val="273239"/>
              </a:buClr>
              <a:buSzPts val="1650"/>
              <a:buFont typeface="Nunito"/>
              <a:buChar char="●"/>
            </a:pPr>
            <a:r>
              <a:rPr lang="en" sz="1650" b="1">
                <a:solidFill>
                  <a:srgbClr val="273239"/>
                </a:solidFill>
                <a:highlight>
                  <a:srgbClr val="FFFFFF"/>
                </a:highlight>
                <a:latin typeface="Nunito"/>
                <a:ea typeface="Nunito"/>
                <a:cs typeface="Nunito"/>
                <a:sym typeface="Nunito"/>
              </a:rPr>
              <a:t>The Web allows us to browse websites, watch videos, shop online, and connect with others around the world through our computers and phones.</a:t>
            </a:r>
            <a:endParaRPr sz="1650" b="1">
              <a:solidFill>
                <a:srgbClr val="273239"/>
              </a:solidFill>
              <a:highlight>
                <a:srgbClr val="FFFFFF"/>
              </a:highlight>
              <a:latin typeface="Nunito"/>
              <a:ea typeface="Nunito"/>
              <a:cs typeface="Nunito"/>
              <a:sym typeface="Nunito"/>
            </a:endParaRPr>
          </a:p>
          <a:p>
            <a:pPr marL="457200" lvl="0" indent="-333375" algn="l" rtl="0">
              <a:spcBef>
                <a:spcPts val="0"/>
              </a:spcBef>
              <a:spcAft>
                <a:spcPts val="0"/>
              </a:spcAft>
              <a:buClr>
                <a:srgbClr val="273239"/>
              </a:buClr>
              <a:buSzPts val="1650"/>
              <a:buFont typeface="Nunito"/>
              <a:buChar char="●"/>
            </a:pPr>
            <a:r>
              <a:rPr lang="en" sz="1650" b="1">
                <a:solidFill>
                  <a:srgbClr val="273239"/>
                </a:solidFill>
                <a:highlight>
                  <a:srgbClr val="FFFFFF"/>
                </a:highlight>
                <a:latin typeface="Nunito"/>
                <a:ea typeface="Nunito"/>
                <a:cs typeface="Nunito"/>
                <a:sym typeface="Nunito"/>
              </a:rPr>
              <a:t>This data may be presented in the text, picture, audio, or video formats in the Internet.</a:t>
            </a:r>
            <a:endParaRPr sz="1650" b="1">
              <a:solidFill>
                <a:srgbClr val="273239"/>
              </a:solidFill>
              <a:highlight>
                <a:srgbClr val="FFFFFF"/>
              </a:highlight>
              <a:latin typeface="Nunito"/>
              <a:ea typeface="Nunito"/>
              <a:cs typeface="Nunito"/>
              <a:sym typeface="Nunito"/>
            </a:endParaRPr>
          </a:p>
          <a:p>
            <a:pPr marL="457200" lvl="0" indent="-333375" algn="l" rtl="0">
              <a:spcBef>
                <a:spcPts val="0"/>
              </a:spcBef>
              <a:spcAft>
                <a:spcPts val="0"/>
              </a:spcAft>
              <a:buClr>
                <a:srgbClr val="273239"/>
              </a:buClr>
              <a:buSzPts val="1650"/>
              <a:buFont typeface="Nunito"/>
              <a:buChar char="●"/>
            </a:pPr>
            <a:r>
              <a:rPr lang="en" sz="1650" b="1">
                <a:solidFill>
                  <a:srgbClr val="273239"/>
                </a:solidFill>
                <a:highlight>
                  <a:srgbClr val="FFFFFF"/>
                </a:highlight>
                <a:latin typeface="Nunito"/>
                <a:ea typeface="Nunito"/>
                <a:cs typeface="Nunito"/>
                <a:sym typeface="Nunito"/>
              </a:rPr>
              <a:t>Today, it connects the whole world’s population, making it one of the most powerful tools for communication and information sharing.</a:t>
            </a:r>
            <a:endParaRPr sz="1650" b="1">
              <a:solidFill>
                <a:srgbClr val="273239"/>
              </a:solidFill>
              <a:highlight>
                <a:srgbClr val="FFFFFF"/>
              </a:highlight>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p17" title="Screenshot 2025-09-20 195133.png"/>
          <p:cNvPicPr preferRelativeResize="0"/>
          <p:nvPr/>
        </p:nvPicPr>
        <p:blipFill>
          <a:blip r:embed="rId3">
            <a:alphaModFix/>
          </a:blip>
          <a:stretch>
            <a:fillRect/>
          </a:stretch>
        </p:blipFill>
        <p:spPr>
          <a:xfrm>
            <a:off x="425650" y="407625"/>
            <a:ext cx="4146349" cy="2895325"/>
          </a:xfrm>
          <a:prstGeom prst="rect">
            <a:avLst/>
          </a:prstGeom>
          <a:noFill/>
          <a:ln>
            <a:noFill/>
          </a:ln>
        </p:spPr>
      </p:pic>
      <p:pic>
        <p:nvPicPr>
          <p:cNvPr id="91" name="Google Shape;91;p17" title="Screenshot 2025-09-20 195158.png"/>
          <p:cNvPicPr preferRelativeResize="0"/>
          <p:nvPr/>
        </p:nvPicPr>
        <p:blipFill>
          <a:blip r:embed="rId4">
            <a:alphaModFix/>
          </a:blip>
          <a:stretch>
            <a:fillRect/>
          </a:stretch>
        </p:blipFill>
        <p:spPr>
          <a:xfrm>
            <a:off x="5464975" y="506000"/>
            <a:ext cx="3614723" cy="2698399"/>
          </a:xfrm>
          <a:prstGeom prst="rect">
            <a:avLst/>
          </a:prstGeom>
          <a:noFill/>
          <a:ln>
            <a:noFill/>
          </a:ln>
        </p:spPr>
      </p:pic>
      <p:sp>
        <p:nvSpPr>
          <p:cNvPr id="92" name="Google Shape;92;p17"/>
          <p:cNvSpPr txBox="1">
            <a:spLocks noGrp="1"/>
          </p:cNvSpPr>
          <p:nvPr>
            <p:ph type="body" idx="4294967295"/>
          </p:nvPr>
        </p:nvSpPr>
        <p:spPr>
          <a:xfrm>
            <a:off x="1003475" y="3429425"/>
            <a:ext cx="3614700" cy="530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650" b="1">
                <a:solidFill>
                  <a:srgbClr val="273239"/>
                </a:solidFill>
                <a:highlight>
                  <a:srgbClr val="FFFFFF"/>
                </a:highlight>
                <a:latin typeface="Nunito"/>
                <a:ea typeface="Nunito"/>
                <a:cs typeface="Nunito"/>
                <a:sym typeface="Nunito"/>
              </a:rPr>
              <a:t>Watching Videos on Youtube</a:t>
            </a:r>
            <a:endParaRPr sz="1650" b="1">
              <a:solidFill>
                <a:srgbClr val="273239"/>
              </a:solidFill>
              <a:highlight>
                <a:srgbClr val="FFFFFF"/>
              </a:highlight>
              <a:latin typeface="Nunito"/>
              <a:ea typeface="Nunito"/>
              <a:cs typeface="Nunito"/>
              <a:sym typeface="Nunito"/>
            </a:endParaRPr>
          </a:p>
        </p:txBody>
      </p:sp>
      <p:sp>
        <p:nvSpPr>
          <p:cNvPr id="93" name="Google Shape;93;p17"/>
          <p:cNvSpPr txBox="1">
            <a:spLocks noGrp="1"/>
          </p:cNvSpPr>
          <p:nvPr>
            <p:ph type="body" idx="4294967295"/>
          </p:nvPr>
        </p:nvSpPr>
        <p:spPr>
          <a:xfrm>
            <a:off x="5688575" y="3429425"/>
            <a:ext cx="3614700" cy="530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650" b="1">
                <a:solidFill>
                  <a:srgbClr val="273239"/>
                </a:solidFill>
                <a:highlight>
                  <a:srgbClr val="FFFFFF"/>
                </a:highlight>
                <a:latin typeface="Nunito"/>
                <a:ea typeface="Nunito"/>
                <a:cs typeface="Nunito"/>
                <a:sym typeface="Nunito"/>
              </a:rPr>
              <a:t>Browsing a Website</a:t>
            </a:r>
            <a:endParaRPr sz="1650" b="1">
              <a:solidFill>
                <a:srgbClr val="273239"/>
              </a:solidFill>
              <a:highlight>
                <a:srgbClr val="FFFFFF"/>
              </a:highlight>
              <a:latin typeface="Nunito"/>
              <a:ea typeface="Nunito"/>
              <a:cs typeface="Nunito"/>
              <a:sym typeface="Nunito"/>
            </a:endParaRPr>
          </a:p>
        </p:txBody>
      </p:sp>
      <p:sp>
        <p:nvSpPr>
          <p:cNvPr id="94" name="Google Shape;94;p17"/>
          <p:cNvSpPr txBox="1">
            <a:spLocks noGrp="1"/>
          </p:cNvSpPr>
          <p:nvPr>
            <p:ph type="body" idx="4294967295"/>
          </p:nvPr>
        </p:nvSpPr>
        <p:spPr>
          <a:xfrm>
            <a:off x="3365675" y="4613100"/>
            <a:ext cx="3614700" cy="530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650" b="1">
                <a:solidFill>
                  <a:srgbClr val="273239"/>
                </a:solidFill>
                <a:highlight>
                  <a:srgbClr val="FFFFFF"/>
                </a:highlight>
                <a:latin typeface="Nunito"/>
                <a:ea typeface="Nunito"/>
                <a:cs typeface="Nunito"/>
                <a:sym typeface="Nunito"/>
              </a:rPr>
              <a:t>Example of Applications of Web</a:t>
            </a:r>
            <a:endParaRPr sz="1650" b="1">
              <a:solidFill>
                <a:srgbClr val="273239"/>
              </a:solidFill>
              <a:highlight>
                <a:srgbClr val="FFFFFF"/>
              </a:highlight>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b="1">
                <a:latin typeface="Arial"/>
                <a:ea typeface="Arial"/>
                <a:cs typeface="Arial"/>
                <a:sym typeface="Arial"/>
              </a:rPr>
              <a:t>2. History of the Web</a:t>
            </a:r>
            <a:endParaRPr sz="4400" b="1">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b="1">
                <a:latin typeface="Arial"/>
                <a:ea typeface="Arial"/>
                <a:cs typeface="Arial"/>
                <a:sym typeface="Arial"/>
              </a:rPr>
              <a:t>History of the Web…</a:t>
            </a:r>
            <a:endParaRPr b="1">
              <a:latin typeface="Arial"/>
              <a:ea typeface="Arial"/>
              <a:cs typeface="Arial"/>
              <a:sym typeface="Arial"/>
            </a:endParaRPr>
          </a:p>
        </p:txBody>
      </p:sp>
      <p:sp>
        <p:nvSpPr>
          <p:cNvPr id="105" name="Google Shape;105;p19"/>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0" lvl="0" indent="0" algn="just" rtl="0">
              <a:spcBef>
                <a:spcPts val="0"/>
              </a:spcBef>
              <a:spcAft>
                <a:spcPts val="1600"/>
              </a:spcAft>
              <a:buNone/>
            </a:pPr>
            <a:r>
              <a:rPr lang="en" sz="1650" b="1">
                <a:solidFill>
                  <a:srgbClr val="273239"/>
                </a:solidFill>
                <a:highlight>
                  <a:srgbClr val="FFFFFF"/>
                </a:highlight>
                <a:latin typeface="Nunito"/>
                <a:ea typeface="Nunito"/>
                <a:cs typeface="Nunito"/>
                <a:sym typeface="Nunito"/>
              </a:rPr>
              <a:t>It is a project created, by Tim Berner Lee in 1989, for researchers to work together effectively at CERN. It is an organization, named the World Wide Web Consortium(W3C), which was developed for further development of the web. This organization is directed by Tim Berners Lee, aka the father of the web.  CERN, where Tim Berners worked, is a community of more than 1700 researchers from more than 100 countries. These researchers spend a little time on CERN and the rest of the time they work at their colleges and national research facilities in their home country, so there was a requirement for solid communication so that they can exchange data.</a:t>
            </a:r>
            <a:endParaRPr sz="1650" b="1">
              <a:solidFill>
                <a:srgbClr val="273239"/>
              </a:solidFill>
              <a:highlight>
                <a:srgbClr val="FFFFFF"/>
              </a:highlight>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b="1">
                <a:latin typeface="Arial"/>
                <a:ea typeface="Arial"/>
                <a:cs typeface="Arial"/>
                <a:sym typeface="Arial"/>
              </a:rPr>
              <a:t>3. Architecture of WWW</a:t>
            </a:r>
            <a:endParaRPr sz="6000" b="1">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21" title="Screenshot 2025-09-15 100824.png"/>
          <p:cNvPicPr preferRelativeResize="0"/>
          <p:nvPr/>
        </p:nvPicPr>
        <p:blipFill rotWithShape="1">
          <a:blip r:embed="rId3">
            <a:alphaModFix/>
          </a:blip>
          <a:srcRect l="-3909" t="-2050" r="3910" b="2049"/>
          <a:stretch/>
        </p:blipFill>
        <p:spPr>
          <a:xfrm>
            <a:off x="441725" y="216700"/>
            <a:ext cx="8302225" cy="4524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p22" title="Screenshot 2025-09-20 195907.png"/>
          <p:cNvPicPr preferRelativeResize="0"/>
          <p:nvPr/>
        </p:nvPicPr>
        <p:blipFill>
          <a:blip r:embed="rId3">
            <a:alphaModFix/>
          </a:blip>
          <a:stretch>
            <a:fillRect/>
          </a:stretch>
        </p:blipFill>
        <p:spPr>
          <a:xfrm>
            <a:off x="304800" y="771813"/>
            <a:ext cx="8839198" cy="359987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3"/>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b="1">
                <a:latin typeface="Arial"/>
                <a:ea typeface="Arial"/>
                <a:cs typeface="Arial"/>
                <a:sym typeface="Arial"/>
              </a:rPr>
              <a:t>4. WWW Vs. Internet </a:t>
            </a:r>
            <a:endParaRPr sz="6000" b="1">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4"/>
          <p:cNvPicPr preferRelativeResize="0"/>
          <p:nvPr/>
        </p:nvPicPr>
        <p:blipFill>
          <a:blip r:embed="rId3">
            <a:alphaModFix/>
          </a:blip>
          <a:stretch>
            <a:fillRect/>
          </a:stretch>
        </p:blipFill>
        <p:spPr>
          <a:xfrm>
            <a:off x="152400" y="152400"/>
            <a:ext cx="8839200" cy="49910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5"/>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b="1">
                <a:latin typeface="Arial"/>
                <a:ea typeface="Arial"/>
                <a:cs typeface="Arial"/>
                <a:sym typeface="Arial"/>
              </a:rPr>
              <a:t>5. Advantages</a:t>
            </a:r>
            <a:endParaRPr sz="6000" b="1">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b="1">
                <a:latin typeface="Arial"/>
                <a:ea typeface="Arial"/>
                <a:cs typeface="Arial"/>
                <a:sym typeface="Arial"/>
              </a:rPr>
              <a:t>Advantages…</a:t>
            </a:r>
            <a:endParaRPr b="1">
              <a:latin typeface="Arial"/>
              <a:ea typeface="Arial"/>
              <a:cs typeface="Arial"/>
              <a:sym typeface="Arial"/>
            </a:endParaRPr>
          </a:p>
        </p:txBody>
      </p:sp>
      <p:sp>
        <p:nvSpPr>
          <p:cNvPr id="141" name="Google Shape;141;p26"/>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0" lvl="0" indent="0" rtl="0">
              <a:lnSpc>
                <a:spcPct val="100000"/>
              </a:lnSpc>
              <a:spcBef>
                <a:spcPts val="0"/>
              </a:spcBef>
              <a:spcAft>
                <a:spcPts val="0"/>
              </a:spcAft>
              <a:buNone/>
            </a:pPr>
            <a:r>
              <a:rPr lang="en" b="1" dirty="0">
                <a:solidFill>
                  <a:srgbClr val="000000"/>
                </a:solidFill>
                <a:latin typeface="Arial"/>
                <a:ea typeface="Arial"/>
                <a:cs typeface="Arial"/>
                <a:sym typeface="Arial"/>
              </a:rPr>
              <a:t>Easy Access to Information</a:t>
            </a:r>
            <a:br>
              <a:rPr lang="en" b="1" dirty="0">
                <a:solidFill>
                  <a:srgbClr val="000000"/>
                </a:solidFill>
                <a:latin typeface="Arial"/>
                <a:ea typeface="Arial"/>
                <a:cs typeface="Arial"/>
                <a:sym typeface="Arial"/>
              </a:rPr>
            </a:br>
            <a:r>
              <a:rPr lang="en" sz="1600" dirty="0">
                <a:solidFill>
                  <a:srgbClr val="000000"/>
                </a:solidFill>
                <a:latin typeface="Arial"/>
                <a:ea typeface="Arial"/>
                <a:cs typeface="Arial"/>
                <a:sym typeface="Arial"/>
              </a:rPr>
              <a:t>Provides huge amounts of data on any topic, available 24×7 from anywhere in the world.</a:t>
            </a:r>
            <a:br>
              <a:rPr lang="en" sz="1200" dirty="0">
                <a:solidFill>
                  <a:srgbClr val="000000"/>
                </a:solidFill>
                <a:latin typeface="Arial"/>
                <a:ea typeface="Arial"/>
                <a:cs typeface="Arial"/>
                <a:sym typeface="Arial"/>
              </a:rPr>
            </a:br>
            <a:endParaRPr sz="1200" dirty="0">
              <a:solidFill>
                <a:srgbClr val="000000"/>
              </a:solidFill>
              <a:latin typeface="Arial"/>
              <a:ea typeface="Arial"/>
              <a:cs typeface="Arial"/>
              <a:sym typeface="Arial"/>
            </a:endParaRPr>
          </a:p>
          <a:p>
            <a:pPr marL="0" lvl="0" indent="0" rtl="0">
              <a:lnSpc>
                <a:spcPct val="100000"/>
              </a:lnSpc>
              <a:spcBef>
                <a:spcPts val="0"/>
              </a:spcBef>
              <a:spcAft>
                <a:spcPts val="0"/>
              </a:spcAft>
              <a:buNone/>
            </a:pPr>
            <a:r>
              <a:rPr lang="en" b="1" dirty="0">
                <a:solidFill>
                  <a:srgbClr val="000000"/>
                </a:solidFill>
                <a:latin typeface="Arial"/>
                <a:ea typeface="Arial"/>
                <a:cs typeface="Arial"/>
                <a:sym typeface="Arial"/>
              </a:rPr>
              <a:t>Global Communication</a:t>
            </a:r>
            <a:br>
              <a:rPr lang="en" sz="1200" b="1" dirty="0">
                <a:solidFill>
                  <a:srgbClr val="000000"/>
                </a:solidFill>
                <a:latin typeface="Arial"/>
                <a:ea typeface="Arial"/>
                <a:cs typeface="Arial"/>
                <a:sym typeface="Arial"/>
              </a:rPr>
            </a:br>
            <a:r>
              <a:rPr lang="en" sz="1600" dirty="0">
                <a:solidFill>
                  <a:srgbClr val="000000"/>
                </a:solidFill>
                <a:latin typeface="Arial"/>
                <a:ea typeface="Arial"/>
                <a:cs typeface="Arial"/>
                <a:sym typeface="Arial"/>
              </a:rPr>
              <a:t>Lets people connect instantly through email, messaging, video calls, and social media.</a:t>
            </a:r>
            <a:br>
              <a:rPr lang="en" sz="1200" dirty="0">
                <a:solidFill>
                  <a:srgbClr val="000000"/>
                </a:solidFill>
                <a:latin typeface="Arial"/>
                <a:ea typeface="Arial"/>
                <a:cs typeface="Arial"/>
                <a:sym typeface="Arial"/>
              </a:rPr>
            </a:br>
            <a:endParaRPr sz="1200" dirty="0">
              <a:solidFill>
                <a:srgbClr val="000000"/>
              </a:solidFill>
              <a:latin typeface="Arial"/>
              <a:ea typeface="Arial"/>
              <a:cs typeface="Arial"/>
              <a:sym typeface="Arial"/>
            </a:endParaRPr>
          </a:p>
          <a:p>
            <a:pPr marL="0" lvl="0" indent="0" rtl="0">
              <a:lnSpc>
                <a:spcPct val="100000"/>
              </a:lnSpc>
              <a:spcBef>
                <a:spcPts val="0"/>
              </a:spcBef>
              <a:spcAft>
                <a:spcPts val="0"/>
              </a:spcAft>
              <a:buNone/>
            </a:pPr>
            <a:r>
              <a:rPr lang="en" b="1" dirty="0">
                <a:solidFill>
                  <a:srgbClr val="000000"/>
                </a:solidFill>
                <a:latin typeface="Arial"/>
                <a:ea typeface="Arial"/>
                <a:cs typeface="Arial"/>
                <a:sym typeface="Arial"/>
              </a:rPr>
              <a:t>E-commerce &amp; Online Services</a:t>
            </a:r>
            <a:br>
              <a:rPr lang="en" sz="1200" b="1" dirty="0">
                <a:solidFill>
                  <a:srgbClr val="000000"/>
                </a:solidFill>
                <a:latin typeface="Arial"/>
                <a:ea typeface="Arial"/>
                <a:cs typeface="Arial"/>
                <a:sym typeface="Arial"/>
              </a:rPr>
            </a:br>
            <a:r>
              <a:rPr lang="en" sz="1600" dirty="0">
                <a:solidFill>
                  <a:srgbClr val="000000"/>
                </a:solidFill>
                <a:latin typeface="Arial"/>
                <a:ea typeface="Arial"/>
                <a:cs typeface="Arial"/>
                <a:sym typeface="Arial"/>
              </a:rPr>
              <a:t>Enables online shopping, banking, ticket booking, bill payments, etc., saving time and effort.</a:t>
            </a:r>
            <a:endParaRPr sz="1600" dirty="0">
              <a:solidFill>
                <a:srgbClr val="000000"/>
              </a:solidFill>
              <a:latin typeface="Arial"/>
              <a:ea typeface="Arial"/>
              <a:cs typeface="Arial"/>
              <a:sym typeface="Arial"/>
            </a:endParaRPr>
          </a:p>
          <a:p>
            <a:pPr marL="0" lvl="0" indent="0" algn="just" rtl="0">
              <a:lnSpc>
                <a:spcPct val="100000"/>
              </a:lnSpc>
              <a:spcBef>
                <a:spcPts val="0"/>
              </a:spcBef>
              <a:spcAft>
                <a:spcPts val="0"/>
              </a:spcAft>
              <a:buNone/>
            </a:pPr>
            <a:endParaRPr sz="1200" dirty="0">
              <a:solidFill>
                <a:srgbClr val="000000"/>
              </a:solidFill>
              <a:latin typeface="Arial"/>
              <a:ea typeface="Arial"/>
              <a:cs typeface="Arial"/>
              <a:sym typeface="Arial"/>
            </a:endParaRPr>
          </a:p>
          <a:p>
            <a:pPr marL="0" lvl="0" indent="0" algn="just" rtl="0">
              <a:lnSpc>
                <a:spcPct val="100000"/>
              </a:lnSpc>
              <a:spcBef>
                <a:spcPts val="0"/>
              </a:spcBef>
              <a:spcAft>
                <a:spcPts val="0"/>
              </a:spcAft>
              <a:buNone/>
            </a:pPr>
            <a:br>
              <a:rPr lang="en" sz="1200" dirty="0">
                <a:solidFill>
                  <a:srgbClr val="000000"/>
                </a:solidFill>
                <a:latin typeface="Arial"/>
                <a:ea typeface="Arial"/>
                <a:cs typeface="Arial"/>
                <a:sym typeface="Arial"/>
              </a:rPr>
            </a:br>
            <a:endParaRPr sz="1200" dirty="0">
              <a:solidFill>
                <a:srgbClr val="000000"/>
              </a:solidFill>
              <a:latin typeface="Arial"/>
              <a:ea typeface="Arial"/>
              <a:cs typeface="Arial"/>
              <a:sym typeface="Arial"/>
            </a:endParaRPr>
          </a:p>
          <a:p>
            <a:pPr marL="0" lvl="0" indent="0" algn="just" rtl="0">
              <a:lnSpc>
                <a:spcPct val="100000"/>
              </a:lnSpc>
              <a:spcBef>
                <a:spcPts val="0"/>
              </a:spcBef>
              <a:spcAft>
                <a:spcPts val="0"/>
              </a:spcAft>
              <a:buNone/>
            </a:pPr>
            <a:endParaRPr sz="1550" b="1" dirty="0">
              <a:solidFill>
                <a:srgbClr val="273239"/>
              </a:solidFill>
              <a:highlight>
                <a:srgbClr val="FFFFFF"/>
              </a:highlight>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7"/>
          <p:cNvSpPr txBox="1">
            <a:spLocks noGrp="1"/>
          </p:cNvSpPr>
          <p:nvPr>
            <p:ph type="body" idx="4294967295"/>
          </p:nvPr>
        </p:nvSpPr>
        <p:spPr>
          <a:xfrm>
            <a:off x="460950" y="327800"/>
            <a:ext cx="8222100" cy="4741200"/>
          </a:xfrm>
          <a:prstGeom prst="rect">
            <a:avLst/>
          </a:prstGeom>
        </p:spPr>
        <p:txBody>
          <a:bodyPr spcFirstLastPara="1" wrap="square" lIns="91425" tIns="91425" rIns="91425" bIns="91425" anchor="t" anchorCtr="0">
            <a:noAutofit/>
          </a:bodyPr>
          <a:lstStyle/>
          <a:p>
            <a:pPr marL="0" lvl="0" indent="0" algn="just" rtl="0">
              <a:lnSpc>
                <a:spcPct val="100000"/>
              </a:lnSpc>
              <a:spcBef>
                <a:spcPts val="0"/>
              </a:spcBef>
              <a:spcAft>
                <a:spcPts val="0"/>
              </a:spcAft>
              <a:buNone/>
            </a:pPr>
            <a:r>
              <a:rPr lang="en" sz="2100" b="1">
                <a:solidFill>
                  <a:srgbClr val="000000"/>
                </a:solidFill>
                <a:latin typeface="Arial"/>
                <a:ea typeface="Arial"/>
                <a:cs typeface="Arial"/>
                <a:sym typeface="Arial"/>
              </a:rPr>
              <a:t>Entertainment</a:t>
            </a:r>
            <a:br>
              <a:rPr lang="en" sz="2100" b="1">
                <a:solidFill>
                  <a:srgbClr val="000000"/>
                </a:solidFill>
                <a:latin typeface="Arial"/>
                <a:ea typeface="Arial"/>
                <a:cs typeface="Arial"/>
                <a:sym typeface="Arial"/>
              </a:rPr>
            </a:br>
            <a:r>
              <a:rPr lang="en">
                <a:solidFill>
                  <a:srgbClr val="000000"/>
                </a:solidFill>
                <a:latin typeface="Arial"/>
                <a:ea typeface="Arial"/>
                <a:cs typeface="Arial"/>
                <a:sym typeface="Arial"/>
              </a:rPr>
              <a:t>Gives access to movies, music, games, and live streaming.</a:t>
            </a:r>
            <a:br>
              <a:rPr lang="en">
                <a:solidFill>
                  <a:srgbClr val="000000"/>
                </a:solidFill>
                <a:latin typeface="Arial"/>
                <a:ea typeface="Arial"/>
                <a:cs typeface="Arial"/>
                <a:sym typeface="Arial"/>
              </a:rPr>
            </a:br>
            <a:endParaRPr>
              <a:solidFill>
                <a:srgbClr val="000000"/>
              </a:solidFill>
              <a:latin typeface="Arial"/>
              <a:ea typeface="Arial"/>
              <a:cs typeface="Arial"/>
              <a:sym typeface="Arial"/>
            </a:endParaRPr>
          </a:p>
          <a:p>
            <a:pPr marL="0" lvl="0" indent="0" algn="l" rtl="0">
              <a:spcBef>
                <a:spcPts val="0"/>
              </a:spcBef>
              <a:spcAft>
                <a:spcPts val="0"/>
              </a:spcAft>
              <a:buNone/>
            </a:pPr>
            <a:r>
              <a:rPr lang="en" sz="2000" b="1">
                <a:solidFill>
                  <a:srgbClr val="000000"/>
                </a:solidFill>
                <a:latin typeface="Arial"/>
                <a:ea typeface="Arial"/>
                <a:cs typeface="Arial"/>
                <a:sym typeface="Arial"/>
              </a:rPr>
              <a:t>Business Growth &amp; Marketing</a:t>
            </a:r>
            <a:br>
              <a:rPr lang="en" sz="2000" b="1">
                <a:solidFill>
                  <a:srgbClr val="000000"/>
                </a:solidFill>
                <a:latin typeface="Arial"/>
                <a:ea typeface="Arial"/>
                <a:cs typeface="Arial"/>
                <a:sym typeface="Arial"/>
              </a:rPr>
            </a:br>
            <a:r>
              <a:rPr lang="en">
                <a:solidFill>
                  <a:srgbClr val="000000"/>
                </a:solidFill>
                <a:latin typeface="Arial"/>
                <a:ea typeface="Arial"/>
                <a:cs typeface="Arial"/>
                <a:sym typeface="Arial"/>
              </a:rPr>
              <a:t>Companies can promote products globally, reach more customers, and work with remote teams.</a:t>
            </a:r>
            <a:br>
              <a:rPr lang="en" sz="1300">
                <a:solidFill>
                  <a:srgbClr val="000000"/>
                </a:solidFill>
                <a:latin typeface="Arial"/>
                <a:ea typeface="Arial"/>
                <a:cs typeface="Arial"/>
                <a:sym typeface="Arial"/>
              </a:rPr>
            </a:br>
            <a:endParaRPr sz="2000">
              <a:solidFill>
                <a:srgbClr val="000000"/>
              </a:solidFill>
              <a:latin typeface="Arial"/>
              <a:ea typeface="Arial"/>
              <a:cs typeface="Arial"/>
              <a:sym typeface="Arial"/>
            </a:endParaRPr>
          </a:p>
          <a:p>
            <a:pPr marL="0" lvl="0" indent="0" algn="l" rtl="0">
              <a:spcBef>
                <a:spcPts val="0"/>
              </a:spcBef>
              <a:spcAft>
                <a:spcPts val="0"/>
              </a:spcAft>
              <a:buNone/>
            </a:pPr>
            <a:r>
              <a:rPr lang="en" sz="2000" b="1">
                <a:solidFill>
                  <a:srgbClr val="000000"/>
                </a:solidFill>
                <a:latin typeface="Arial"/>
                <a:ea typeface="Arial"/>
                <a:cs typeface="Arial"/>
                <a:sym typeface="Arial"/>
              </a:rPr>
              <a:t>Collaboration &amp; Sharing</a:t>
            </a:r>
            <a:br>
              <a:rPr lang="en" sz="1300" b="1">
                <a:solidFill>
                  <a:srgbClr val="000000"/>
                </a:solidFill>
                <a:latin typeface="Arial"/>
                <a:ea typeface="Arial"/>
                <a:cs typeface="Arial"/>
                <a:sym typeface="Arial"/>
              </a:rPr>
            </a:br>
            <a:r>
              <a:rPr lang="en">
                <a:solidFill>
                  <a:srgbClr val="000000"/>
                </a:solidFill>
                <a:latin typeface="Arial"/>
                <a:ea typeface="Arial"/>
                <a:cs typeface="Arial"/>
                <a:sym typeface="Arial"/>
              </a:rPr>
              <a:t>Tools like cloud storage, wikis, and online editors allow people to work together from different locations</a:t>
            </a:r>
            <a:endParaRPr>
              <a:solidFill>
                <a:srgbClr val="000000"/>
              </a:solidFill>
              <a:latin typeface="Arial"/>
              <a:ea typeface="Arial"/>
              <a:cs typeface="Arial"/>
              <a:sym typeface="Arial"/>
            </a:endParaRPr>
          </a:p>
          <a:p>
            <a:pPr marL="0" lvl="0" indent="0" algn="just" rtl="0">
              <a:lnSpc>
                <a:spcPct val="100000"/>
              </a:lnSpc>
              <a:spcBef>
                <a:spcPts val="0"/>
              </a:spcBef>
              <a:spcAft>
                <a:spcPts val="0"/>
              </a:spcAft>
              <a:buNone/>
            </a:pPr>
            <a:endParaRPr>
              <a:solidFill>
                <a:srgbClr val="000000"/>
              </a:solidFill>
              <a:latin typeface="Arial"/>
              <a:ea typeface="Arial"/>
              <a:cs typeface="Arial"/>
              <a:sym typeface="Arial"/>
            </a:endParaRPr>
          </a:p>
          <a:p>
            <a:pPr marL="0" lvl="0" indent="0" algn="just" rtl="0">
              <a:lnSpc>
                <a:spcPct val="100000"/>
              </a:lnSpc>
              <a:spcBef>
                <a:spcPts val="0"/>
              </a:spcBef>
              <a:spcAft>
                <a:spcPts val="0"/>
              </a:spcAft>
              <a:buNone/>
            </a:pPr>
            <a:r>
              <a:rPr lang="en" sz="2000" b="1">
                <a:solidFill>
                  <a:srgbClr val="000000"/>
                </a:solidFill>
                <a:latin typeface="Arial"/>
                <a:ea typeface="Arial"/>
                <a:cs typeface="Arial"/>
                <a:sym typeface="Arial"/>
              </a:rPr>
              <a:t>Education &amp; Research</a:t>
            </a:r>
            <a:endParaRPr sz="2000" b="1">
              <a:solidFill>
                <a:srgbClr val="000000"/>
              </a:solidFill>
              <a:latin typeface="Arial"/>
              <a:ea typeface="Arial"/>
              <a:cs typeface="Arial"/>
              <a:sym typeface="Arial"/>
            </a:endParaRPr>
          </a:p>
          <a:p>
            <a:pPr marL="0" lvl="0" indent="0" algn="just" rtl="0">
              <a:lnSpc>
                <a:spcPct val="100000"/>
              </a:lnSpc>
              <a:spcBef>
                <a:spcPts val="0"/>
              </a:spcBef>
              <a:spcAft>
                <a:spcPts val="0"/>
              </a:spcAft>
              <a:buNone/>
            </a:pPr>
            <a:r>
              <a:rPr lang="en">
                <a:solidFill>
                  <a:srgbClr val="000000"/>
                </a:solidFill>
                <a:latin typeface="Arial"/>
                <a:ea typeface="Arial"/>
                <a:cs typeface="Arial"/>
                <a:sym typeface="Arial"/>
              </a:rPr>
              <a:t>Offers online courses, e-books, tutorials, and research papers, helping students and professionals learn easily.</a:t>
            </a:r>
            <a:br>
              <a:rPr lang="en" sz="1600">
                <a:solidFill>
                  <a:srgbClr val="000000"/>
                </a:solidFill>
                <a:latin typeface="Arial"/>
                <a:ea typeface="Arial"/>
                <a:cs typeface="Arial"/>
                <a:sym typeface="Arial"/>
              </a:rPr>
            </a:br>
            <a:endParaRPr sz="1600">
              <a:solidFill>
                <a:srgbClr val="000000"/>
              </a:solidFill>
              <a:latin typeface="Arial"/>
              <a:ea typeface="Arial"/>
              <a:cs typeface="Arial"/>
              <a:sym typeface="Arial"/>
            </a:endParaRPr>
          </a:p>
          <a:p>
            <a:pPr marL="0" lvl="0" indent="0" algn="l" rtl="0">
              <a:spcBef>
                <a:spcPts val="1200"/>
              </a:spcBef>
              <a:spcAft>
                <a:spcPts val="1200"/>
              </a:spcAft>
              <a:buNone/>
            </a:pPr>
            <a:endParaRPr sz="1100">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8"/>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b="1">
                <a:latin typeface="Arial"/>
                <a:ea typeface="Arial"/>
                <a:cs typeface="Arial"/>
                <a:sym typeface="Arial"/>
              </a:rPr>
              <a:t>6. Limitations/Challenges of the Web</a:t>
            </a:r>
            <a:endParaRPr sz="6000" b="1">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9"/>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b="1">
                <a:latin typeface="Arial"/>
                <a:ea typeface="Arial"/>
                <a:cs typeface="Arial"/>
                <a:sym typeface="Arial"/>
              </a:rPr>
              <a:t>Limitations…</a:t>
            </a:r>
            <a:endParaRPr b="1">
              <a:latin typeface="Arial"/>
              <a:ea typeface="Arial"/>
              <a:cs typeface="Arial"/>
              <a:sym typeface="Arial"/>
            </a:endParaRPr>
          </a:p>
        </p:txBody>
      </p:sp>
      <p:sp>
        <p:nvSpPr>
          <p:cNvPr id="157" name="Google Shape;157;p29"/>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b="1">
                <a:solidFill>
                  <a:srgbClr val="000000"/>
                </a:solidFill>
                <a:latin typeface="Arial"/>
                <a:ea typeface="Arial"/>
                <a:cs typeface="Arial"/>
                <a:sym typeface="Arial"/>
              </a:rPr>
              <a:t>Security &amp; Privacy Issues</a:t>
            </a:r>
            <a:endParaRPr b="1">
              <a:solidFill>
                <a:srgbClr val="000000"/>
              </a:solidFill>
              <a:latin typeface="Arial"/>
              <a:ea typeface="Arial"/>
              <a:cs typeface="Arial"/>
              <a:sym typeface="Arial"/>
            </a:endParaRPr>
          </a:p>
          <a:p>
            <a:pPr marL="0" lvl="0" indent="0" algn="l" rtl="0">
              <a:spcBef>
                <a:spcPts val="1200"/>
              </a:spcBef>
              <a:spcAft>
                <a:spcPts val="0"/>
              </a:spcAft>
              <a:buNone/>
            </a:pPr>
            <a:r>
              <a:rPr lang="en" sz="2000">
                <a:solidFill>
                  <a:srgbClr val="000000"/>
                </a:solidFill>
                <a:latin typeface="Arial"/>
                <a:ea typeface="Arial"/>
                <a:cs typeface="Arial"/>
                <a:sym typeface="Arial"/>
              </a:rPr>
              <a:t>P</a:t>
            </a:r>
            <a:r>
              <a:rPr lang="en" sz="1700">
                <a:solidFill>
                  <a:srgbClr val="000000"/>
                </a:solidFill>
                <a:latin typeface="Arial"/>
                <a:ea typeface="Arial"/>
                <a:cs typeface="Arial"/>
                <a:sym typeface="Arial"/>
              </a:rPr>
              <a:t>ersonal data can be hacked or misused; cybercrimes like phishing, identity theft, and fraud are common.</a:t>
            </a:r>
            <a:endParaRPr sz="1700">
              <a:solidFill>
                <a:srgbClr val="000000"/>
              </a:solidFill>
              <a:latin typeface="Arial"/>
              <a:ea typeface="Arial"/>
              <a:cs typeface="Arial"/>
              <a:sym typeface="Arial"/>
            </a:endParaRPr>
          </a:p>
          <a:p>
            <a:pPr marL="0" lvl="0" indent="0" algn="just" rtl="0">
              <a:lnSpc>
                <a:spcPct val="100000"/>
              </a:lnSpc>
              <a:spcBef>
                <a:spcPts val="1200"/>
              </a:spcBef>
              <a:spcAft>
                <a:spcPts val="0"/>
              </a:spcAft>
              <a:buNone/>
            </a:pPr>
            <a:r>
              <a:rPr lang="en" b="1">
                <a:solidFill>
                  <a:srgbClr val="000000"/>
                </a:solidFill>
                <a:latin typeface="Arial"/>
                <a:ea typeface="Arial"/>
                <a:cs typeface="Arial"/>
                <a:sym typeface="Arial"/>
              </a:rPr>
              <a:t>Misinformation &amp; Fake News</a:t>
            </a:r>
            <a:endParaRPr b="1">
              <a:solidFill>
                <a:srgbClr val="000000"/>
              </a:solidFill>
              <a:latin typeface="Arial"/>
              <a:ea typeface="Arial"/>
              <a:cs typeface="Arial"/>
              <a:sym typeface="Arial"/>
            </a:endParaRPr>
          </a:p>
          <a:p>
            <a:pPr marL="0" lvl="0" indent="0" algn="just" rtl="0">
              <a:lnSpc>
                <a:spcPct val="100000"/>
              </a:lnSpc>
              <a:spcBef>
                <a:spcPts val="0"/>
              </a:spcBef>
              <a:spcAft>
                <a:spcPts val="0"/>
              </a:spcAft>
              <a:buNone/>
            </a:pPr>
            <a:r>
              <a:rPr lang="en" sz="1700">
                <a:solidFill>
                  <a:srgbClr val="000000"/>
                </a:solidFill>
                <a:latin typeface="Arial"/>
                <a:ea typeface="Arial"/>
                <a:cs typeface="Arial"/>
                <a:sym typeface="Arial"/>
              </a:rPr>
              <a:t>Anyone can publish content, so false or misleading information spreads easily.</a:t>
            </a:r>
            <a:br>
              <a:rPr lang="en" sz="1500">
                <a:solidFill>
                  <a:srgbClr val="000000"/>
                </a:solidFill>
                <a:latin typeface="Arial"/>
                <a:ea typeface="Arial"/>
                <a:cs typeface="Arial"/>
                <a:sym typeface="Arial"/>
              </a:rPr>
            </a:br>
            <a:endParaRPr sz="1500">
              <a:solidFill>
                <a:srgbClr val="000000"/>
              </a:solidFill>
              <a:latin typeface="Arial"/>
              <a:ea typeface="Arial"/>
              <a:cs typeface="Arial"/>
              <a:sym typeface="Arial"/>
            </a:endParaRPr>
          </a:p>
          <a:p>
            <a:pPr marL="0" lvl="0" indent="0" algn="l" rtl="0">
              <a:spcBef>
                <a:spcPts val="0"/>
              </a:spcBef>
              <a:spcAft>
                <a:spcPts val="0"/>
              </a:spcAft>
              <a:buNone/>
            </a:pPr>
            <a:r>
              <a:rPr lang="en" b="1">
                <a:solidFill>
                  <a:srgbClr val="000000"/>
                </a:solidFill>
                <a:latin typeface="Arial"/>
                <a:ea typeface="Arial"/>
                <a:cs typeface="Arial"/>
                <a:sym typeface="Arial"/>
              </a:rPr>
              <a:t>Addiction &amp; Time Wastage</a:t>
            </a:r>
            <a:endParaRPr b="1">
              <a:solidFill>
                <a:srgbClr val="000000"/>
              </a:solidFill>
              <a:latin typeface="Arial"/>
              <a:ea typeface="Arial"/>
              <a:cs typeface="Arial"/>
              <a:sym typeface="Arial"/>
            </a:endParaRPr>
          </a:p>
          <a:p>
            <a:pPr marL="0" lvl="0" indent="0" algn="l" rtl="0">
              <a:spcBef>
                <a:spcPts val="0"/>
              </a:spcBef>
              <a:spcAft>
                <a:spcPts val="0"/>
              </a:spcAft>
              <a:buNone/>
            </a:pPr>
            <a:r>
              <a:rPr lang="en" sz="1700">
                <a:solidFill>
                  <a:srgbClr val="000000"/>
                </a:solidFill>
                <a:latin typeface="Arial"/>
                <a:ea typeface="Arial"/>
                <a:cs typeface="Arial"/>
                <a:sym typeface="Arial"/>
              </a:rPr>
              <a:t>Overuse of social media, gaming, or streaming may affect productivity and health.</a:t>
            </a:r>
            <a:br>
              <a:rPr lang="en" sz="1500" b="1">
                <a:solidFill>
                  <a:srgbClr val="000000"/>
                </a:solidFill>
                <a:latin typeface="Arial"/>
                <a:ea typeface="Arial"/>
                <a:cs typeface="Arial"/>
                <a:sym typeface="Arial"/>
              </a:rPr>
            </a:br>
            <a:endParaRPr sz="1500" b="1">
              <a:solidFill>
                <a:srgbClr val="000000"/>
              </a:solidFill>
              <a:latin typeface="Arial"/>
              <a:ea typeface="Arial"/>
              <a:cs typeface="Arial"/>
              <a:sym typeface="Arial"/>
            </a:endParaRPr>
          </a:p>
          <a:p>
            <a:pPr marL="0" lvl="0" indent="0" algn="just" rtl="0">
              <a:lnSpc>
                <a:spcPct val="100000"/>
              </a:lnSpc>
              <a:spcBef>
                <a:spcPts val="0"/>
              </a:spcBef>
              <a:spcAft>
                <a:spcPts val="0"/>
              </a:spcAft>
              <a:buNone/>
            </a:pPr>
            <a:endParaRPr sz="1600" b="1">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0"/>
          <p:cNvSpPr txBox="1">
            <a:spLocks noGrp="1"/>
          </p:cNvSpPr>
          <p:nvPr>
            <p:ph type="body" idx="4294967295"/>
          </p:nvPr>
        </p:nvSpPr>
        <p:spPr>
          <a:xfrm>
            <a:off x="460950" y="118850"/>
            <a:ext cx="8222100" cy="4805400"/>
          </a:xfrm>
          <a:prstGeom prst="rect">
            <a:avLst/>
          </a:prstGeom>
        </p:spPr>
        <p:txBody>
          <a:bodyPr spcFirstLastPara="1" wrap="square" lIns="91425" tIns="91425" rIns="91425" bIns="91425" anchor="t" anchorCtr="0">
            <a:noAutofit/>
          </a:bodyPr>
          <a:lstStyle/>
          <a:p>
            <a:pPr marL="0" lvl="0" indent="0" algn="just" rtl="0">
              <a:lnSpc>
                <a:spcPct val="100000"/>
              </a:lnSpc>
              <a:spcBef>
                <a:spcPts val="0"/>
              </a:spcBef>
              <a:spcAft>
                <a:spcPts val="0"/>
              </a:spcAft>
              <a:buNone/>
            </a:pPr>
            <a:r>
              <a:rPr lang="en" sz="2600" b="1">
                <a:solidFill>
                  <a:srgbClr val="000000"/>
                </a:solidFill>
                <a:latin typeface="Arial"/>
                <a:ea typeface="Arial"/>
                <a:cs typeface="Arial"/>
                <a:sym typeface="Arial"/>
              </a:rPr>
              <a:t>Digital Divide</a:t>
            </a:r>
            <a:br>
              <a:rPr lang="en" sz="1900" b="1">
                <a:solidFill>
                  <a:srgbClr val="000000"/>
                </a:solidFill>
                <a:latin typeface="Arial"/>
                <a:ea typeface="Arial"/>
                <a:cs typeface="Arial"/>
                <a:sym typeface="Arial"/>
              </a:rPr>
            </a:br>
            <a:r>
              <a:rPr lang="en" sz="2200">
                <a:solidFill>
                  <a:srgbClr val="000000"/>
                </a:solidFill>
                <a:latin typeface="Arial"/>
                <a:ea typeface="Arial"/>
                <a:cs typeface="Arial"/>
                <a:sym typeface="Arial"/>
              </a:rPr>
              <a:t>Not everyone has equal access to the Internet (due to cost, infrastructure, or skills).</a:t>
            </a:r>
            <a:br>
              <a:rPr lang="en" sz="1900">
                <a:solidFill>
                  <a:srgbClr val="000000"/>
                </a:solidFill>
                <a:latin typeface="Arial"/>
                <a:ea typeface="Arial"/>
                <a:cs typeface="Arial"/>
                <a:sym typeface="Arial"/>
              </a:rPr>
            </a:br>
            <a:endParaRPr sz="1900">
              <a:solidFill>
                <a:srgbClr val="000000"/>
              </a:solidFill>
              <a:latin typeface="Arial"/>
              <a:ea typeface="Arial"/>
              <a:cs typeface="Arial"/>
              <a:sym typeface="Arial"/>
            </a:endParaRPr>
          </a:p>
          <a:p>
            <a:pPr marL="0" lvl="0" indent="0" algn="l" rtl="0">
              <a:spcBef>
                <a:spcPts val="0"/>
              </a:spcBef>
              <a:spcAft>
                <a:spcPts val="0"/>
              </a:spcAft>
              <a:buNone/>
            </a:pPr>
            <a:r>
              <a:rPr lang="en" sz="2500" b="1">
                <a:solidFill>
                  <a:srgbClr val="000000"/>
                </a:solidFill>
                <a:latin typeface="Arial"/>
                <a:ea typeface="Arial"/>
                <a:cs typeface="Arial"/>
                <a:sym typeface="Arial"/>
              </a:rPr>
              <a:t>Viruses &amp; Malware</a:t>
            </a:r>
            <a:br>
              <a:rPr lang="en" sz="1900" b="1">
                <a:solidFill>
                  <a:srgbClr val="000000"/>
                </a:solidFill>
                <a:latin typeface="Arial"/>
                <a:ea typeface="Arial"/>
                <a:cs typeface="Arial"/>
                <a:sym typeface="Arial"/>
              </a:rPr>
            </a:br>
            <a:r>
              <a:rPr lang="en" sz="2200">
                <a:solidFill>
                  <a:srgbClr val="000000"/>
                </a:solidFill>
                <a:latin typeface="Arial"/>
                <a:ea typeface="Arial"/>
                <a:cs typeface="Arial"/>
                <a:sym typeface="Arial"/>
              </a:rPr>
              <a:t>Downloading unsafe files or visiting harmful sites can damage devices.</a:t>
            </a:r>
            <a:br>
              <a:rPr lang="en" sz="1900">
                <a:solidFill>
                  <a:srgbClr val="000000"/>
                </a:solidFill>
                <a:latin typeface="Arial"/>
                <a:ea typeface="Arial"/>
                <a:cs typeface="Arial"/>
                <a:sym typeface="Arial"/>
              </a:rPr>
            </a:br>
            <a:endParaRPr sz="1900">
              <a:solidFill>
                <a:srgbClr val="000000"/>
              </a:solidFill>
              <a:latin typeface="Arial"/>
              <a:ea typeface="Arial"/>
              <a:cs typeface="Arial"/>
              <a:sym typeface="Arial"/>
            </a:endParaRPr>
          </a:p>
          <a:p>
            <a:pPr marL="0" lvl="0" indent="0" algn="l" rtl="0">
              <a:spcBef>
                <a:spcPts val="0"/>
              </a:spcBef>
              <a:spcAft>
                <a:spcPts val="0"/>
              </a:spcAft>
              <a:buNone/>
            </a:pPr>
            <a:r>
              <a:rPr lang="en" sz="2500" b="1">
                <a:solidFill>
                  <a:srgbClr val="000000"/>
                </a:solidFill>
                <a:latin typeface="Arial"/>
                <a:ea typeface="Arial"/>
                <a:cs typeface="Arial"/>
                <a:sym typeface="Arial"/>
              </a:rPr>
              <a:t>Overload of Information</a:t>
            </a:r>
            <a:br>
              <a:rPr lang="en" sz="2500" b="1">
                <a:solidFill>
                  <a:srgbClr val="000000"/>
                </a:solidFill>
                <a:latin typeface="Arial"/>
                <a:ea typeface="Arial"/>
                <a:cs typeface="Arial"/>
                <a:sym typeface="Arial"/>
              </a:rPr>
            </a:br>
            <a:r>
              <a:rPr lang="en" sz="2200">
                <a:solidFill>
                  <a:srgbClr val="000000"/>
                </a:solidFill>
                <a:latin typeface="Arial"/>
                <a:ea typeface="Arial"/>
                <a:cs typeface="Arial"/>
                <a:sym typeface="Arial"/>
              </a:rPr>
              <a:t>Too much content makes it hard to filter reliable and relevant data.</a:t>
            </a:r>
            <a:br>
              <a:rPr lang="en" sz="1900">
                <a:solidFill>
                  <a:srgbClr val="000000"/>
                </a:solidFill>
                <a:latin typeface="Arial"/>
                <a:ea typeface="Arial"/>
                <a:cs typeface="Arial"/>
                <a:sym typeface="Arial"/>
              </a:rPr>
            </a:br>
            <a:endParaRPr sz="1900">
              <a:solidFill>
                <a:srgbClr val="000000"/>
              </a:solidFill>
              <a:latin typeface="Arial"/>
              <a:ea typeface="Arial"/>
              <a:cs typeface="Arial"/>
              <a:sym typeface="Arial"/>
            </a:endParaRPr>
          </a:p>
          <a:p>
            <a:pPr marL="0" lvl="0" indent="0" algn="just" rtl="0">
              <a:lnSpc>
                <a:spcPct val="100000"/>
              </a:lnSpc>
              <a:spcBef>
                <a:spcPts val="0"/>
              </a:spcBef>
              <a:spcAft>
                <a:spcPts val="0"/>
              </a:spcAft>
              <a:buNone/>
            </a:pPr>
            <a:endParaRPr sz="2100" b="1">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1"/>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b="1">
                <a:latin typeface="Arial"/>
                <a:ea typeface="Arial"/>
                <a:cs typeface="Arial"/>
                <a:sym typeface="Arial"/>
              </a:rPr>
              <a:t>7. Some key facts</a:t>
            </a:r>
            <a:endParaRPr sz="6000" b="1">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2"/>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b="1">
                <a:latin typeface="Arial"/>
                <a:ea typeface="Arial"/>
                <a:cs typeface="Arial"/>
                <a:sym typeface="Arial"/>
              </a:rPr>
              <a:t>Some key Facts…</a:t>
            </a:r>
            <a:endParaRPr b="1">
              <a:latin typeface="Arial"/>
              <a:ea typeface="Arial"/>
              <a:cs typeface="Arial"/>
              <a:sym typeface="Arial"/>
            </a:endParaRPr>
          </a:p>
        </p:txBody>
      </p:sp>
      <p:sp>
        <p:nvSpPr>
          <p:cNvPr id="173" name="Google Shape;173;p32"/>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685800" lvl="0" indent="-333375" algn="l" rtl="0">
              <a:lnSpc>
                <a:spcPct val="158000"/>
              </a:lnSpc>
              <a:spcBef>
                <a:spcPts val="0"/>
              </a:spcBef>
              <a:spcAft>
                <a:spcPts val="0"/>
              </a:spcAft>
              <a:buClr>
                <a:srgbClr val="273239"/>
              </a:buClr>
              <a:buSzPts val="1650"/>
              <a:buFont typeface="Nunito"/>
              <a:buChar char="●"/>
            </a:pPr>
            <a:r>
              <a:rPr lang="en" sz="1650" b="1">
                <a:solidFill>
                  <a:srgbClr val="273239"/>
                </a:solidFill>
                <a:highlight>
                  <a:srgbClr val="FFFFFF"/>
                </a:highlight>
                <a:latin typeface="Nunito"/>
                <a:ea typeface="Nunito"/>
                <a:cs typeface="Nunito"/>
                <a:sym typeface="Nunito"/>
              </a:rPr>
              <a:t>The first website ever is still online! You can visit it at "http://info.cern.ch/"</a:t>
            </a:r>
            <a:endParaRPr sz="1650" b="1">
              <a:solidFill>
                <a:srgbClr val="273239"/>
              </a:solidFill>
              <a:highlight>
                <a:srgbClr val="FFFFFF"/>
              </a:highlight>
              <a:latin typeface="Nunito"/>
              <a:ea typeface="Nunito"/>
              <a:cs typeface="Nunito"/>
              <a:sym typeface="Nunito"/>
            </a:endParaRPr>
          </a:p>
          <a:p>
            <a:pPr marL="685800" lvl="0" indent="-333375" algn="l" rtl="0">
              <a:lnSpc>
                <a:spcPct val="158000"/>
              </a:lnSpc>
              <a:spcBef>
                <a:spcPts val="0"/>
              </a:spcBef>
              <a:spcAft>
                <a:spcPts val="0"/>
              </a:spcAft>
              <a:buClr>
                <a:srgbClr val="273239"/>
              </a:buClr>
              <a:buSzPts val="1650"/>
              <a:buFont typeface="Nunito"/>
              <a:buChar char="●"/>
            </a:pPr>
            <a:r>
              <a:rPr lang="en" sz="1650" b="1">
                <a:solidFill>
                  <a:srgbClr val="273239"/>
                </a:solidFill>
                <a:highlight>
                  <a:srgbClr val="FFFFFF"/>
                </a:highlight>
                <a:latin typeface="Nunito"/>
                <a:ea typeface="Nunito"/>
                <a:cs typeface="Nunito"/>
                <a:sym typeface="Nunito"/>
              </a:rPr>
              <a:t>There are over 1.5 billion websites in the world, and that number grows every day.</a:t>
            </a:r>
            <a:endParaRPr sz="1650" b="1">
              <a:solidFill>
                <a:srgbClr val="273239"/>
              </a:solidFill>
              <a:highlight>
                <a:srgbClr val="FFFFFF"/>
              </a:highlight>
              <a:latin typeface="Nunito"/>
              <a:ea typeface="Nunito"/>
              <a:cs typeface="Nunito"/>
              <a:sym typeface="Nunito"/>
            </a:endParaRPr>
          </a:p>
          <a:p>
            <a:pPr marL="685800" lvl="0" indent="-333375" algn="l" rtl="0">
              <a:lnSpc>
                <a:spcPct val="158000"/>
              </a:lnSpc>
              <a:spcBef>
                <a:spcPts val="0"/>
              </a:spcBef>
              <a:spcAft>
                <a:spcPts val="0"/>
              </a:spcAft>
              <a:buClr>
                <a:srgbClr val="273239"/>
              </a:buClr>
              <a:buSzPts val="1650"/>
              <a:buFont typeface="Nunito"/>
              <a:buChar char="●"/>
            </a:pPr>
            <a:r>
              <a:rPr lang="en" sz="1650" b="1" u="sng">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Google Chrome</a:t>
            </a:r>
            <a:r>
              <a:rPr lang="en" sz="1650" b="1">
                <a:solidFill>
                  <a:srgbClr val="273239"/>
                </a:solidFill>
                <a:highlight>
                  <a:srgbClr val="FFFFFF"/>
                </a:highlight>
                <a:latin typeface="Nunito"/>
                <a:ea typeface="Nunito"/>
                <a:cs typeface="Nunito"/>
                <a:sym typeface="Nunito"/>
              </a:rPr>
              <a:t> is used by more than 60% of people browsing the Web.</a:t>
            </a:r>
            <a:endParaRPr sz="1650" b="1">
              <a:solidFill>
                <a:srgbClr val="273239"/>
              </a:solidFill>
              <a:highlight>
                <a:srgbClr val="FFFFFF"/>
              </a:highlight>
              <a:latin typeface="Nunito"/>
              <a:ea typeface="Nunito"/>
              <a:cs typeface="Nunito"/>
              <a:sym typeface="Nunito"/>
            </a:endParaRPr>
          </a:p>
          <a:p>
            <a:pPr marL="685800" lvl="0" indent="-333375" algn="l" rtl="0">
              <a:lnSpc>
                <a:spcPct val="158000"/>
              </a:lnSpc>
              <a:spcBef>
                <a:spcPts val="0"/>
              </a:spcBef>
              <a:spcAft>
                <a:spcPts val="0"/>
              </a:spcAft>
              <a:buClr>
                <a:srgbClr val="273239"/>
              </a:buClr>
              <a:buSzPts val="1650"/>
              <a:buFont typeface="Nunito"/>
              <a:buChar char="●"/>
            </a:pPr>
            <a:r>
              <a:rPr lang="en" sz="1650" b="1">
                <a:solidFill>
                  <a:srgbClr val="273239"/>
                </a:solidFill>
                <a:highlight>
                  <a:srgbClr val="FFFFFF"/>
                </a:highlight>
                <a:latin typeface="Nunito"/>
                <a:ea typeface="Nunito"/>
                <a:cs typeface="Nunito"/>
                <a:sym typeface="Nunito"/>
              </a:rPr>
              <a:t>The Web is available in over 150 languages, so you can explore in your language or learn a new one!</a:t>
            </a:r>
            <a:endParaRPr sz="2100" b="1">
              <a:solidFill>
                <a:srgbClr val="273239"/>
              </a:solidFill>
              <a:highlight>
                <a:srgbClr val="FFFFFF"/>
              </a:highlight>
              <a:latin typeface="Nunito"/>
              <a:ea typeface="Nunito"/>
              <a:cs typeface="Nunito"/>
              <a:sym typeface="Nunito"/>
            </a:endParaRPr>
          </a:p>
          <a:p>
            <a:pPr marL="0" lvl="0" indent="0" algn="just" rtl="0">
              <a:lnSpc>
                <a:spcPct val="100000"/>
              </a:lnSpc>
              <a:spcBef>
                <a:spcPts val="1800"/>
              </a:spcBef>
              <a:spcAft>
                <a:spcPts val="0"/>
              </a:spcAft>
              <a:buNone/>
            </a:pPr>
            <a:endParaRPr b="1">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3"/>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b="1">
                <a:latin typeface="Arial"/>
                <a:ea typeface="Arial"/>
                <a:cs typeface="Arial"/>
                <a:sym typeface="Arial"/>
              </a:rPr>
              <a:t>8. Conclusion and Referrences</a:t>
            </a:r>
            <a:endParaRPr sz="6000" b="1">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4"/>
          <p:cNvSpPr txBox="1">
            <a:spLocks noGrp="1"/>
          </p:cNvSpPr>
          <p:nvPr>
            <p:ph type="body" idx="4294967295"/>
          </p:nvPr>
        </p:nvSpPr>
        <p:spPr>
          <a:xfrm>
            <a:off x="471900" y="668000"/>
            <a:ext cx="8222100" cy="3961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750" b="1">
                <a:solidFill>
                  <a:srgbClr val="273239"/>
                </a:solidFill>
                <a:highlight>
                  <a:srgbClr val="FFFFFF"/>
                </a:highlight>
                <a:latin typeface="Nunito"/>
                <a:ea typeface="Nunito"/>
                <a:cs typeface="Nunito"/>
                <a:sym typeface="Nunito"/>
              </a:rPr>
              <a:t>The World Wide Web is like a magical doorway to a world of knowledge, fun, and creativity. Since Tim Berners-Lee created it in 1989, it’s grown into something we use every day for school, games, and staying connected. By understanding how the Web works and using it safely, you can make the most of this incredible tool. So, grab your browser, explore, and have fun learning something new today!</a:t>
            </a:r>
            <a:endParaRPr sz="1750" b="1">
              <a:solidFill>
                <a:srgbClr val="273239"/>
              </a:solidFill>
              <a:highlight>
                <a:srgbClr val="FFFFFF"/>
              </a:highlight>
              <a:latin typeface="Nunito"/>
              <a:ea typeface="Nunito"/>
              <a:cs typeface="Nunito"/>
              <a:sym typeface="Nunito"/>
            </a:endParaRPr>
          </a:p>
          <a:p>
            <a:pPr marL="0" lvl="0" indent="0" algn="l" rtl="0">
              <a:spcBef>
                <a:spcPts val="800"/>
              </a:spcBef>
              <a:spcAft>
                <a:spcPts val="0"/>
              </a:spcAft>
              <a:buNone/>
            </a:pPr>
            <a:endParaRPr sz="1400" b="1">
              <a:solidFill>
                <a:srgbClr val="000000"/>
              </a:solidFill>
              <a:latin typeface="Arial"/>
              <a:ea typeface="Arial"/>
              <a:cs typeface="Arial"/>
              <a:sym typeface="Arial"/>
            </a:endParaRPr>
          </a:p>
          <a:p>
            <a:pPr marL="0" lvl="0" indent="0" algn="just" rtl="0">
              <a:lnSpc>
                <a:spcPct val="100000"/>
              </a:lnSpc>
              <a:spcBef>
                <a:spcPts val="0"/>
              </a:spcBef>
              <a:spcAft>
                <a:spcPts val="0"/>
              </a:spcAft>
              <a:buNone/>
            </a:pPr>
            <a:endParaRPr sz="1700" i="1">
              <a:solidFill>
                <a:srgbClr val="000000"/>
              </a:solidFill>
              <a:latin typeface="Arial"/>
              <a:ea typeface="Arial"/>
              <a:cs typeface="Arial"/>
              <a:sym typeface="Arial"/>
            </a:endParaRPr>
          </a:p>
          <a:p>
            <a:pPr marL="0" lvl="0" indent="0" algn="just" rtl="0">
              <a:lnSpc>
                <a:spcPct val="100000"/>
              </a:lnSpc>
              <a:spcBef>
                <a:spcPts val="0"/>
              </a:spcBef>
              <a:spcAft>
                <a:spcPts val="0"/>
              </a:spcAft>
              <a:buNone/>
            </a:pPr>
            <a:r>
              <a:rPr lang="en" sz="1500" i="1">
                <a:solidFill>
                  <a:srgbClr val="000000"/>
                </a:solidFill>
                <a:latin typeface="Arial"/>
                <a:ea typeface="Arial"/>
                <a:cs typeface="Arial"/>
                <a:sym typeface="Arial"/>
              </a:rPr>
              <a:t>References…. - </a:t>
            </a:r>
            <a:endParaRPr sz="1500" i="1">
              <a:solidFill>
                <a:srgbClr val="000000"/>
              </a:solidFill>
              <a:latin typeface="Arial"/>
              <a:ea typeface="Arial"/>
              <a:cs typeface="Arial"/>
              <a:sym typeface="Arial"/>
            </a:endParaRPr>
          </a:p>
          <a:p>
            <a:pPr marL="0" lvl="0" indent="0" algn="just" rtl="0">
              <a:lnSpc>
                <a:spcPct val="100000"/>
              </a:lnSpc>
              <a:spcBef>
                <a:spcPts val="0"/>
              </a:spcBef>
              <a:spcAft>
                <a:spcPts val="0"/>
              </a:spcAft>
              <a:buNone/>
            </a:pPr>
            <a:r>
              <a:rPr lang="en" sz="1500" i="1">
                <a:solidFill>
                  <a:srgbClr val="000000"/>
                </a:solidFill>
                <a:latin typeface="Arial"/>
                <a:ea typeface="Arial"/>
                <a:cs typeface="Arial"/>
                <a:sym typeface="Arial"/>
              </a:rPr>
              <a:t>1)</a:t>
            </a:r>
            <a:r>
              <a:rPr lang="en" sz="1500" i="1" u="sng">
                <a:solidFill>
                  <a:schemeClr val="hlink"/>
                </a:solidFill>
                <a:latin typeface="Arial"/>
                <a:ea typeface="Arial"/>
                <a:cs typeface="Arial"/>
                <a:sym typeface="Arial"/>
                <a:hlinkClick r:id="rId3"/>
              </a:rPr>
              <a:t>https://www.geeksforgeeks.org/computer-networks/world-wide-web-www/</a:t>
            </a:r>
            <a:endParaRPr sz="1500" i="1">
              <a:solidFill>
                <a:srgbClr val="000000"/>
              </a:solidFill>
              <a:latin typeface="Arial"/>
              <a:ea typeface="Arial"/>
              <a:cs typeface="Arial"/>
              <a:sym typeface="Arial"/>
            </a:endParaRPr>
          </a:p>
          <a:p>
            <a:pPr marL="0" lvl="0" indent="0" algn="just" rtl="0">
              <a:lnSpc>
                <a:spcPct val="100000"/>
              </a:lnSpc>
              <a:spcBef>
                <a:spcPts val="0"/>
              </a:spcBef>
              <a:spcAft>
                <a:spcPts val="0"/>
              </a:spcAft>
              <a:buNone/>
            </a:pPr>
            <a:r>
              <a:rPr lang="en" sz="1500" i="1">
                <a:solidFill>
                  <a:srgbClr val="000000"/>
                </a:solidFill>
                <a:latin typeface="Arial"/>
                <a:ea typeface="Arial"/>
                <a:cs typeface="Arial"/>
                <a:sym typeface="Arial"/>
              </a:rPr>
              <a:t>2)www and HTTP(Chapter 27) - From Data Communications and Networking (4th Edition) - Behrouz A. Forouzan</a:t>
            </a:r>
            <a:endParaRPr sz="1500" i="1">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5"/>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b="1">
                <a:latin typeface="Arial"/>
                <a:ea typeface="Arial"/>
                <a:cs typeface="Arial"/>
                <a:sym typeface="Arial"/>
              </a:rPr>
              <a:t>Thanking you…</a:t>
            </a:r>
            <a:endParaRPr sz="6000" b="1">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827</Words>
  <Application>Microsoft Office PowerPoint</Application>
  <PresentationFormat>On-screen Show (16:9)</PresentationFormat>
  <Paragraphs>64</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Nunito</vt:lpstr>
      <vt:lpstr>Roboto</vt:lpstr>
      <vt:lpstr>Times New Roman</vt:lpstr>
      <vt:lpstr>Arial</vt:lpstr>
      <vt:lpstr>Material</vt:lpstr>
      <vt:lpstr>World Wide Web (W.W.W)</vt:lpstr>
      <vt:lpstr>Slide Content-&gt;</vt:lpstr>
      <vt:lpstr>Introduction</vt:lpstr>
      <vt:lpstr>Introduction…</vt:lpstr>
      <vt:lpstr>PowerPoint Presentation</vt:lpstr>
      <vt:lpstr>2. History of the Web</vt:lpstr>
      <vt:lpstr>History of the Web…</vt:lpstr>
      <vt:lpstr>3. Architecture of WWW</vt:lpstr>
      <vt:lpstr>PowerPoint Presentation</vt:lpstr>
      <vt:lpstr>PowerPoint Presentation</vt:lpstr>
      <vt:lpstr>4. WWW Vs. Internet </vt:lpstr>
      <vt:lpstr>PowerPoint Presentation</vt:lpstr>
      <vt:lpstr>5. Advantages</vt:lpstr>
      <vt:lpstr>Advantages…</vt:lpstr>
      <vt:lpstr>PowerPoint Presentation</vt:lpstr>
      <vt:lpstr>6. Limitations/Challenges of the Web</vt:lpstr>
      <vt:lpstr>Limitations…</vt:lpstr>
      <vt:lpstr>PowerPoint Presentation</vt:lpstr>
      <vt:lpstr>7. Some key facts</vt:lpstr>
      <vt:lpstr>Some key Facts…</vt:lpstr>
      <vt:lpstr>8. Conclusion and Referrences</vt:lpstr>
      <vt:lpstr>PowerPoint Presentation</vt:lpstr>
      <vt:lpstr>Thanking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Souptik Bhattacharjee</cp:lastModifiedBy>
  <cp:revision>1</cp:revision>
  <dcterms:modified xsi:type="dcterms:W3CDTF">2025-09-20T14:45:51Z</dcterms:modified>
</cp:coreProperties>
</file>